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22" y="-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-3-1">
            <a:extLst>
              <a:ext uri="{FF2B5EF4-FFF2-40B4-BE49-F238E27FC236}">
                <a16:creationId xmlns:a16="http://schemas.microsoft.com/office/drawing/2014/main" id="{44DB822D-C25E-408C-BA69-F65896B3F0C9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VeilPay
Private payroll. Verifiable compliance.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D82D888A-360D-4A8A-90D3-042F76141E3C}"/>
              </a:ext>
            </a:extLst>
          </p:cNvPr>
          <p:cNvSpPr>
            <a:spLocks noGrp="1"/>
          </p:cNvSpPr>
          <p:nvPr/>
        </p:nvSpPr>
        <p:spPr>
          <a:xfrm>
            <a:off x="393668" y="4742212"/>
            <a:ext cx="57023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selective-disclosure payroll workflow designed for Midnight Network.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AA241CA5-448F-4FF2-A602-A39C04E5DC68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5702332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NIGHT SKY ACCELERATOR | JULY 2026</a:t>
            </a:r>
          </a:p>
        </p:txBody>
      </p:sp>
      <p:sp>
        <p:nvSpPr>
          <p:cNvPr id="4" name="veilpay-accent">
            <a:extLst>
              <a:ext uri="{FF2B5EF4-FFF2-40B4-BE49-F238E27FC236}">
                <a16:creationId xmlns:a16="http://schemas.microsoft.com/office/drawing/2014/main" id="{FAACFF0C-7381-4871-B1C2-9376DF2C39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1134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-Shape-532-p58-2">
            <a:extLst>
              <a:ext uri="{FF2B5EF4-FFF2-40B4-BE49-F238E27FC236}">
                <a16:creationId xmlns:a16="http://schemas.microsoft.com/office/drawing/2014/main" id="{44C065DF-2787-4303-912C-8800B5612AE5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33B98CF8-40A5-47BD-85A6-14D4D1888F2F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Payroll privacy breaks at the settlement layer</a:t>
            </a:r>
          </a:p>
        </p:txBody>
      </p:sp>
      <p:sp>
        <p:nvSpPr>
          <p:cNvPr id="3" name="Rounded-Rectangle-1-4">
            <a:extLst>
              <a:ext uri="{FF2B5EF4-FFF2-40B4-BE49-F238E27FC236}">
                <a16:creationId xmlns:a16="http://schemas.microsoft.com/office/drawing/2014/main" id="{621B1BCB-10BA-4420-87C2-D2305611EE42}"/>
              </a:ext>
            </a:extLst>
          </p:cNvPr>
          <p:cNvSpPr>
            <a:spLocks noGrp="1"/>
          </p:cNvSpPr>
          <p:nvPr/>
        </p:nvSpPr>
        <p:spPr>
          <a:xfrm>
            <a:off x="397002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BB0285CC-8CB1-4949-95DA-0ABF56782CC0}"/>
              </a:ext>
            </a:extLst>
          </p:cNvPr>
          <p:cNvSpPr>
            <a:spLocks noGrp="1"/>
          </p:cNvSpPr>
          <p:nvPr/>
        </p:nvSpPr>
        <p:spPr>
          <a:xfrm>
            <a:off x="694277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 payroll</a:t>
            </a:r>
          </a:p>
        </p:txBody>
      </p:sp>
      <p:sp>
        <p:nvSpPr>
          <p:cNvPr id="5" name="Content-Placeholder-15-6">
            <a:extLst>
              <a:ext uri="{FF2B5EF4-FFF2-40B4-BE49-F238E27FC236}">
                <a16:creationId xmlns:a16="http://schemas.microsoft.com/office/drawing/2014/main" id="{6C2DF292-476F-4198-9CE1-AFF0E548B349}"/>
              </a:ext>
            </a:extLst>
          </p:cNvPr>
          <p:cNvSpPr>
            <a:spLocks noGrp="1"/>
          </p:cNvSpPr>
          <p:nvPr/>
        </p:nvSpPr>
        <p:spPr>
          <a:xfrm>
            <a:off x="694277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Private, but hard to verify independently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Closed reconciliation and audit trails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Settlement trust remains centralized</a:t>
            </a:r>
          </a:p>
        </p:txBody>
      </p:sp>
      <p:sp>
        <p:nvSpPr>
          <p:cNvPr id="6" name="Rounded-Rectangle-7-7">
            <a:extLst>
              <a:ext uri="{FF2B5EF4-FFF2-40B4-BE49-F238E27FC236}">
                <a16:creationId xmlns:a16="http://schemas.microsoft.com/office/drawing/2014/main" id="{25EA2581-57E8-4C4C-A4A5-FB61D9C8C094}"/>
              </a:ext>
            </a:extLst>
          </p:cNvPr>
          <p:cNvSpPr>
            <a:spLocks noGrp="1"/>
          </p:cNvSpPr>
          <p:nvPr/>
        </p:nvSpPr>
        <p:spPr>
          <a:xfrm>
            <a:off x="6260783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13415FCF-C9E5-4A3D-86B3-7A814A285428}"/>
              </a:ext>
            </a:extLst>
          </p:cNvPr>
          <p:cNvSpPr>
            <a:spLocks noGrp="1"/>
          </p:cNvSpPr>
          <p:nvPr/>
        </p:nvSpPr>
        <p:spPr>
          <a:xfrm>
            <a:off x="6558058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Transparent on-chain payroll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BD0027D3-90BF-46F0-B043-A8C53CD19D74}"/>
              </a:ext>
            </a:extLst>
          </p:cNvPr>
          <p:cNvSpPr>
            <a:spLocks noGrp="1"/>
          </p:cNvSpPr>
          <p:nvPr/>
        </p:nvSpPr>
        <p:spPr>
          <a:xfrm>
            <a:off x="6558058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Verifiable, but exposes sensitive payment graphs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Permanent metadata creates new attack surfaces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Compliance can require over-disclosure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0E5FD0AE-3871-4DA4-830B-7E1716F61B23}"/>
              </a:ext>
            </a:extLst>
          </p:cNvPr>
          <p:cNvSpPr>
            <a:spLocks noGrp="1"/>
          </p:cNvSpPr>
          <p:nvPr/>
        </p:nvSpPr>
        <p:spPr>
          <a:xfrm>
            <a:off x="400907" y="1157478"/>
            <a:ext cx="11404568" cy="1629251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THE PROBLEM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Salary amounts, payment timing and employer-employee relationships become observable when payroll moves onto transparent public rails.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creates confidentiality, employee-safety and compliance risk.</a:t>
            </a:r>
          </a:p>
        </p:txBody>
      </p:sp>
      <p:sp>
        <p:nvSpPr>
          <p:cNvPr id="10" name="veilpay-accent">
            <a:extLst>
              <a:ext uri="{FF2B5EF4-FFF2-40B4-BE49-F238E27FC236}">
                <a16:creationId xmlns:a16="http://schemas.microsoft.com/office/drawing/2014/main" id="{046B93CA-699A-44D2-B433-CA3B54E185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368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-Shape-532-p58-2">
            <a:extLst>
              <a:ext uri="{FF2B5EF4-FFF2-40B4-BE49-F238E27FC236}">
                <a16:creationId xmlns:a16="http://schemas.microsoft.com/office/drawing/2014/main" id="{2D788ABC-1A04-47C1-A780-310897A5ACE4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9E3D30A5-9AB3-4C9D-99E3-85C8FB12FA59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VeilPay separates payment execution from disclosure</a:t>
            </a:r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002F7B19-9A48-402C-A347-52DA288BCEDD}"/>
              </a:ext>
            </a:extLst>
          </p:cNvPr>
          <p:cNvSpPr>
            <a:spLocks noGrp="1"/>
          </p:cNvSpPr>
          <p:nvPr/>
        </p:nvSpPr>
        <p:spPr>
          <a:xfrm>
            <a:off x="393668" y="3365468"/>
            <a:ext cx="3568732" cy="2628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Private batch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employer creates payroll commitments without publishing individual salary amounts.</a:t>
            </a:r>
          </a:p>
        </p:txBody>
      </p:sp>
      <p:sp>
        <p:nvSpPr>
          <p:cNvPr id="4" name="Content-Placeholder-1-5">
            <a:extLst>
              <a:ext uri="{FF2B5EF4-FFF2-40B4-BE49-F238E27FC236}">
                <a16:creationId xmlns:a16="http://schemas.microsoft.com/office/drawing/2014/main" id="{08192F95-EAC4-4DAC-B9FF-E3B3F280B894}"/>
              </a:ext>
            </a:extLst>
          </p:cNvPr>
          <p:cNvSpPr>
            <a:spLocks noGrp="1"/>
          </p:cNvSpPr>
          <p:nvPr/>
        </p:nvSpPr>
        <p:spPr>
          <a:xfrm>
            <a:off x="8229600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Selective audit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reviewer receives only the evidence needed for a policy check, not the full payroll ledger.</a:t>
            </a:r>
          </a:p>
        </p:txBody>
      </p:sp>
      <p:sp>
        <p:nvSpPr>
          <p:cNvPr id="5" name="Content-Placeholder-2-6">
            <a:extLst>
              <a:ext uri="{FF2B5EF4-FFF2-40B4-BE49-F238E27FC236}">
                <a16:creationId xmlns:a16="http://schemas.microsoft.com/office/drawing/2014/main" id="{ECD880D3-614F-4A4A-8BC0-1B7EABA2DD31}"/>
              </a:ext>
            </a:extLst>
          </p:cNvPr>
          <p:cNvSpPr>
            <a:spLocks noGrp="1"/>
          </p:cNvSpPr>
          <p:nvPr/>
        </p:nvSpPr>
        <p:spPr>
          <a:xfrm>
            <a:off x="4311682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One-time claim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employee receives a claim secret; a nullifier prevents the same entitlement being withdrawn twice.</a:t>
            </a:r>
          </a:p>
        </p:txBody>
      </p:sp>
      <p:sp>
        <p:nvSpPr>
          <p:cNvPr id="6" name="veilpay-accent">
            <a:extLst>
              <a:ext uri="{FF2B5EF4-FFF2-40B4-BE49-F238E27FC236}">
                <a16:creationId xmlns:a16="http://schemas.microsoft.com/office/drawing/2014/main" id="{F93075BD-2E1B-4C0F-AA15-9A6ACE5A9A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7" name="status-pill">
            <a:extLst>
              <a:ext uri="{FF2B5EF4-FFF2-40B4-BE49-F238E27FC236}">
                <a16:creationId xmlns:a16="http://schemas.microsoft.com/office/drawing/2014/main" id="{3735EE9D-F38D-482A-918E-6D7164224F30}"/>
              </a:ext>
            </a:extLst>
          </p:cNvPr>
          <p:cNvSpPr>
            <a:spLocks noGrp="1"/>
          </p:cNvSpPr>
          <p:nvPr/>
        </p:nvSpPr>
        <p:spPr>
          <a:xfrm>
            <a:off x="9525000" y="1381125"/>
            <a:ext cx="1952625" cy="381000"/>
          </a:xfrm>
          <a:prstGeom prst="roundRect">
            <a:avLst>
              <a:gd name="adj" fmla="val 30000"/>
            </a:avLst>
          </a:prstGeom>
          <a:solidFill>
            <a:srgbClr val="D0EDFA"/>
          </a:solidFill>
          <a:ln w="9525">
            <a:solidFill>
              <a:srgbClr val="6DCBF4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0B4F6C"/>
                </a:solidFill>
              </a:defRPr>
            </a:pPr>
            <a:r>
              <a:rPr sz="1125" b="1">
                <a:solidFill>
                  <a:srgbClr val="0B4F6C"/>
                </a:solidFill>
              </a:rPr>
              <a:t>SIMULATION MVP</a:t>
            </a:r>
          </a:p>
        </p:txBody>
      </p:sp>
    </p:spTree>
    <p:extLst>
      <p:ext uri="{BB962C8B-B14F-4D97-AF65-F5344CB8AC3E}">
        <p14:creationId xmlns:p14="http://schemas.microsoft.com/office/powerpoint/2010/main" val="475334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Number-Placeholder-1-2">
            <a:extLst>
              <a:ext uri="{FF2B5EF4-FFF2-40B4-BE49-F238E27FC236}">
                <a16:creationId xmlns:a16="http://schemas.microsoft.com/office/drawing/2014/main" id="{A40BE888-2FF9-4351-9965-FE4EC12BA010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476C31CF-1E6C-47EF-B6E3-84BD49B3EE71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Midnight aligns privacy, auditability and operating cost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3984F4A8-FC60-487E-8EE5-31073760BF32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Hybrid ledger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Combine durable public state with protected payroll inputs and outputs.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E6DEF119-C3C3-4EAD-B520-C7DF63D7826E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Compact + ZK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Encode payroll rules as circuits that prove claims without revealing salary data.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99C7D928-7C31-455F-A0E1-2394FD460759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Selective disclosure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Grant auditors only policy evidence instead of exposing the full payroll graph.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CE76E708-2FDE-41A3-A46F-9C013293CE63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NIGHT / DUST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Separate capital from transaction resources for predictable enterprise operations.</a:t>
            </a:r>
          </a:p>
        </p:txBody>
      </p:sp>
      <p:sp>
        <p:nvSpPr>
          <p:cNvPr id="7" name="veilpay-accent">
            <a:extLst>
              <a:ext uri="{FF2B5EF4-FFF2-40B4-BE49-F238E27FC236}">
                <a16:creationId xmlns:a16="http://schemas.microsoft.com/office/drawing/2014/main" id="{C8DCC9DE-D9D4-4E29-B291-222726BB8F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status-pill">
            <a:extLst>
              <a:ext uri="{FF2B5EF4-FFF2-40B4-BE49-F238E27FC236}">
                <a16:creationId xmlns:a16="http://schemas.microsoft.com/office/drawing/2014/main" id="{C46F19C5-91EE-466D-B403-1517E5719440}"/>
              </a:ext>
            </a:extLst>
          </p:cNvPr>
          <p:cNvSpPr>
            <a:spLocks noGrp="1"/>
          </p:cNvSpPr>
          <p:nvPr/>
        </p:nvSpPr>
        <p:spPr>
          <a:xfrm>
            <a:off x="9525000" y="1381125"/>
            <a:ext cx="1952625" cy="381000"/>
          </a:xfrm>
          <a:prstGeom prst="roundRect">
            <a:avLst>
              <a:gd name="adj" fmla="val 30000"/>
            </a:avLst>
          </a:prstGeom>
          <a:solidFill>
            <a:srgbClr val="D0EDFA"/>
          </a:solidFill>
          <a:ln w="9525">
            <a:solidFill>
              <a:srgbClr val="6DCBF4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0B4F6C"/>
                </a:solidFill>
              </a:defRPr>
            </a:pPr>
            <a:r>
              <a:rPr sz="1125" b="1">
                <a:solidFill>
                  <a:srgbClr val="0B4F6C"/>
                </a:solidFill>
              </a:rPr>
              <a:t>TARGET ARCHITECTURE</a:t>
            </a:r>
          </a:p>
        </p:txBody>
      </p:sp>
      <p:sp>
        <p:nvSpPr>
          <p:cNvPr id="9" name="source-footnote">
            <a:extLst>
              <a:ext uri="{FF2B5EF4-FFF2-40B4-BE49-F238E27FC236}">
                <a16:creationId xmlns:a16="http://schemas.microsoft.com/office/drawing/2014/main" id="{02B3A93E-42E0-4BD2-A689-CFE10BC7C50E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000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Sources: midnight.network/blog/midnight-network-is-live | midnight.network/night (accessed 15 Jul 2026)</a:t>
            </a:r>
          </a:p>
        </p:txBody>
      </p:sp>
    </p:spTree>
    <p:extLst>
      <p:ext uri="{BB962C8B-B14F-4D97-AF65-F5344CB8AC3E}">
        <p14:creationId xmlns:p14="http://schemas.microsoft.com/office/powerpoint/2010/main" val="164715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-Shape-532-p58-2">
            <a:extLst>
              <a:ext uri="{FF2B5EF4-FFF2-40B4-BE49-F238E27FC236}">
                <a16:creationId xmlns:a16="http://schemas.microsoft.com/office/drawing/2014/main" id="{A8E48781-D6C8-458D-A1E0-F9B8DBDD632A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965E7861-1BA3-4E57-8B40-1A4FB81C3F94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Lace is the employee control surface</a:t>
            </a:r>
          </a:p>
        </p:txBody>
      </p:sp>
      <p:sp>
        <p:nvSpPr>
          <p:cNvPr id="3" name="Rounded-Rectangle-1-4">
            <a:extLst>
              <a:ext uri="{FF2B5EF4-FFF2-40B4-BE49-F238E27FC236}">
                <a16:creationId xmlns:a16="http://schemas.microsoft.com/office/drawing/2014/main" id="{FB70C3F9-EBB4-4FAA-BE30-079BD6E26EA4}"/>
              </a:ext>
            </a:extLst>
          </p:cNvPr>
          <p:cNvSpPr>
            <a:spLocks noGrp="1"/>
          </p:cNvSpPr>
          <p:nvPr/>
        </p:nvSpPr>
        <p:spPr>
          <a:xfrm>
            <a:off x="397002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E9F2DF8E-03C7-4A5B-9EA7-A017C94FF8CA}"/>
              </a:ext>
            </a:extLst>
          </p:cNvPr>
          <p:cNvSpPr>
            <a:spLocks noGrp="1"/>
          </p:cNvSpPr>
          <p:nvPr/>
        </p:nvSpPr>
        <p:spPr>
          <a:xfrm>
            <a:off x="694277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Implemented today</a:t>
            </a:r>
          </a:p>
        </p:txBody>
      </p:sp>
      <p:sp>
        <p:nvSpPr>
          <p:cNvPr id="5" name="Content-Placeholder-15-6">
            <a:extLst>
              <a:ext uri="{FF2B5EF4-FFF2-40B4-BE49-F238E27FC236}">
                <a16:creationId xmlns:a16="http://schemas.microsoft.com/office/drawing/2014/main" id="{5AD34495-0639-4C69-99BB-2B79D3A44984}"/>
              </a:ext>
            </a:extLst>
          </p:cNvPr>
          <p:cNvSpPr>
            <a:spLocks noGrp="1"/>
          </p:cNvSpPr>
          <p:nvPr/>
        </p:nvSpPr>
        <p:spPr>
          <a:xfrm>
            <a:off x="694277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Discover installed Midnight wallets and request permission</a:t>
            </a:r>
          </a:p>
          <a:p>
            <a:pPr algn="l">
              <a:lnSpc>
                <a:spcPct val="105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 connection status and a compatible network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shielded address; keep session in memory; copy or disconnect</a:t>
            </a:r>
          </a:p>
        </p:txBody>
      </p:sp>
      <p:sp>
        <p:nvSpPr>
          <p:cNvPr id="6" name="Rounded-Rectangle-7-7">
            <a:extLst>
              <a:ext uri="{FF2B5EF4-FFF2-40B4-BE49-F238E27FC236}">
                <a16:creationId xmlns:a16="http://schemas.microsoft.com/office/drawing/2014/main" id="{89BBD1E5-B19E-45AE-AA79-0CE92681BA9A}"/>
              </a:ext>
            </a:extLst>
          </p:cNvPr>
          <p:cNvSpPr>
            <a:spLocks noGrp="1"/>
          </p:cNvSpPr>
          <p:nvPr/>
        </p:nvSpPr>
        <p:spPr>
          <a:xfrm>
            <a:off x="6260783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17FE07C4-D90D-4152-92CB-21807B373B21}"/>
              </a:ext>
            </a:extLst>
          </p:cNvPr>
          <p:cNvSpPr>
            <a:spLocks noGrp="1"/>
          </p:cNvSpPr>
          <p:nvPr/>
        </p:nvSpPr>
        <p:spPr>
          <a:xfrm>
            <a:off x="6558058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On-chain completion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DFBA849B-A379-457E-AC71-3A2187540FC2}"/>
              </a:ext>
            </a:extLst>
          </p:cNvPr>
          <p:cNvSpPr>
            <a:spLocks noGrp="1"/>
          </p:cNvSpPr>
          <p:nvPr/>
        </p:nvSpPr>
        <p:spPr>
          <a:xfrm>
            <a:off x="6558058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the claim transaction with generated contract bindings</a:t>
            </a:r>
          </a:p>
          <a:p>
            <a:pPr algn="l">
              <a:lnSpc>
                <a:spcPct val="105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 wallet authorization and client-side proof generation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Submit, confirm and display the receipt and spent nullifier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6E6A1C00-9C1F-4060-ADB7-BFE6671C68B6}"/>
              </a:ext>
            </a:extLst>
          </p:cNvPr>
          <p:cNvSpPr>
            <a:spLocks noGrp="1"/>
          </p:cNvSpPr>
          <p:nvPr/>
        </p:nvSpPr>
        <p:spPr>
          <a:xfrm>
            <a:off x="400907" y="1157478"/>
            <a:ext cx="11404568" cy="1629251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WALLET INTEGRATION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VeilPay uses the Midnight DApp connector so wallet permission and the shielded address remain under employee control.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Connection is implemented; proof authorization and real transaction submission are the next milestone.</a:t>
            </a:r>
          </a:p>
        </p:txBody>
      </p:sp>
      <p:sp>
        <p:nvSpPr>
          <p:cNvPr id="10" name="veilpay-accent">
            <a:extLst>
              <a:ext uri="{FF2B5EF4-FFF2-40B4-BE49-F238E27FC236}">
                <a16:creationId xmlns:a16="http://schemas.microsoft.com/office/drawing/2014/main" id="{F1AAFD0A-A835-44A5-B214-DA317F0C45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1" name="status-pill">
            <a:extLst>
              <a:ext uri="{FF2B5EF4-FFF2-40B4-BE49-F238E27FC236}">
                <a16:creationId xmlns:a16="http://schemas.microsoft.com/office/drawing/2014/main" id="{0D97141C-BDD7-4D4B-AA3E-6B76A981AAB0}"/>
              </a:ext>
            </a:extLst>
          </p:cNvPr>
          <p:cNvSpPr>
            <a:spLocks noGrp="1"/>
          </p:cNvSpPr>
          <p:nvPr/>
        </p:nvSpPr>
        <p:spPr>
          <a:xfrm>
            <a:off x="9525000" y="361950"/>
            <a:ext cx="1952625" cy="381000"/>
          </a:xfrm>
          <a:prstGeom prst="roundRect">
            <a:avLst>
              <a:gd name="adj" fmla="val 30000"/>
            </a:avLst>
          </a:prstGeom>
          <a:solidFill>
            <a:srgbClr val="D0EDFA"/>
          </a:solidFill>
          <a:ln w="9525">
            <a:solidFill>
              <a:srgbClr val="6DCBF4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0B4F6C"/>
                </a:solidFill>
              </a:defRPr>
            </a:pPr>
            <a:r>
              <a:rPr sz="1125" b="1">
                <a:solidFill>
                  <a:srgbClr val="0B4F6C"/>
                </a:solidFill>
              </a:rPr>
              <a:t>PARTIAL INTEGRATION</a:t>
            </a:r>
          </a:p>
        </p:txBody>
      </p:sp>
      <p:sp>
        <p:nvSpPr>
          <p:cNvPr id="12" name="source-footnote">
            <a:extLst>
              <a:ext uri="{FF2B5EF4-FFF2-40B4-BE49-F238E27FC236}">
                <a16:creationId xmlns:a16="http://schemas.microsoft.com/office/drawing/2014/main" id="{468B10CA-C4F4-435B-91CD-4989093C6624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000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Reference: Midnight testnet release notes - Lace Wallet and DApp Connector (accessed 15 Jul 2026)</a:t>
            </a:r>
          </a:p>
        </p:txBody>
      </p:sp>
    </p:spTree>
    <p:extLst>
      <p:ext uri="{BB962C8B-B14F-4D97-AF65-F5344CB8AC3E}">
        <p14:creationId xmlns:p14="http://schemas.microsoft.com/office/powerpoint/2010/main" val="29310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-Shape-532-p58-2">
            <a:extLst>
              <a:ext uri="{FF2B5EF4-FFF2-40B4-BE49-F238E27FC236}">
                <a16:creationId xmlns:a16="http://schemas.microsoft.com/office/drawing/2014/main" id="{EB6E3222-D332-40F4-9E96-1F7C1F605D20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4D19F6CF-234E-4933-A7BF-BA0916FF7C79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MVP proves the workflow, not yet the chain</a:t>
            </a:r>
          </a:p>
        </p:txBody>
      </p:sp>
      <p:sp>
        <p:nvSpPr>
          <p:cNvPr id="3" name="Rounded-Rectangle-1-4">
            <a:extLst>
              <a:ext uri="{FF2B5EF4-FFF2-40B4-BE49-F238E27FC236}">
                <a16:creationId xmlns:a16="http://schemas.microsoft.com/office/drawing/2014/main" id="{2AE9BF15-FA3A-4C28-90C1-2CB27036A71E}"/>
              </a:ext>
            </a:extLst>
          </p:cNvPr>
          <p:cNvSpPr>
            <a:spLocks noGrp="1"/>
          </p:cNvSpPr>
          <p:nvPr/>
        </p:nvSpPr>
        <p:spPr>
          <a:xfrm>
            <a:off x="397002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4B9B7F63-6691-4158-ABDB-55D94AF49C8C}"/>
              </a:ext>
            </a:extLst>
          </p:cNvPr>
          <p:cNvSpPr>
            <a:spLocks noGrp="1"/>
          </p:cNvSpPr>
          <p:nvPr/>
        </p:nvSpPr>
        <p:spPr>
          <a:xfrm>
            <a:off x="694277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Working today</a:t>
            </a:r>
          </a:p>
        </p:txBody>
      </p:sp>
      <p:sp>
        <p:nvSpPr>
          <p:cNvPr id="5" name="Content-Placeholder-15-6">
            <a:extLst>
              <a:ext uri="{FF2B5EF4-FFF2-40B4-BE49-F238E27FC236}">
                <a16:creationId xmlns:a16="http://schemas.microsoft.com/office/drawing/2014/main" id="{9B08CB04-701A-43F7-BBB6-440BD80E5C3C}"/>
              </a:ext>
            </a:extLst>
          </p:cNvPr>
          <p:cNvSpPr>
            <a:spLocks noGrp="1"/>
          </p:cNvSpPr>
          <p:nvPr/>
        </p:nvSpPr>
        <p:spPr>
          <a:xfrm>
            <a:off x="694277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React role-based portals + Express API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CSV validation, encrypted claim data, SQLite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Lace connection flow and persistent local demo history</a:t>
            </a:r>
          </a:p>
        </p:txBody>
      </p:sp>
      <p:sp>
        <p:nvSpPr>
          <p:cNvPr id="6" name="Rounded-Rectangle-7-7">
            <a:extLst>
              <a:ext uri="{FF2B5EF4-FFF2-40B4-BE49-F238E27FC236}">
                <a16:creationId xmlns:a16="http://schemas.microsoft.com/office/drawing/2014/main" id="{D5E3EF17-54C5-4670-BA70-5AF06F1413F5}"/>
              </a:ext>
            </a:extLst>
          </p:cNvPr>
          <p:cNvSpPr>
            <a:spLocks noGrp="1"/>
          </p:cNvSpPr>
          <p:nvPr/>
        </p:nvSpPr>
        <p:spPr>
          <a:xfrm>
            <a:off x="6260783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A57679D9-50A5-4D7F-B272-FEDF95E9202C}"/>
              </a:ext>
            </a:extLst>
          </p:cNvPr>
          <p:cNvSpPr>
            <a:spLocks noGrp="1"/>
          </p:cNvSpPr>
          <p:nvPr/>
        </p:nvSpPr>
        <p:spPr>
          <a:xfrm>
            <a:off x="6558058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Required for on-chain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C34DDCA8-1CC1-403C-8752-763766E1DC32}"/>
              </a:ext>
            </a:extLst>
          </p:cNvPr>
          <p:cNvSpPr>
            <a:spLocks noGrp="1"/>
          </p:cNvSpPr>
          <p:nvPr/>
        </p:nvSpPr>
        <p:spPr>
          <a:xfrm>
            <a:off x="6558058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Compiled Compact artifacts and generated bindings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Deployed preprod contract and proof service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auth/RBAC, durable DB and security audit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BBA38290-DCD0-49A8-82D1-C7268553AAB4}"/>
              </a:ext>
            </a:extLst>
          </p:cNvPr>
          <p:cNvSpPr>
            <a:spLocks noGrp="1"/>
          </p:cNvSpPr>
          <p:nvPr/>
        </p:nvSpPr>
        <p:spPr>
          <a:xfrm>
            <a:off x="400907" y="1157478"/>
            <a:ext cx="11404568" cy="1629251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CURRENT PRODUCT STATE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working local full-stack demo covers employer payroll upload, employee claims and compliance 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Simulation boundaries are visible in the UI and transaction identifiers use a sim_ prefix.</a:t>
            </a:r>
          </a:p>
        </p:txBody>
      </p:sp>
      <p:sp>
        <p:nvSpPr>
          <p:cNvPr id="10" name="veilpay-accent">
            <a:extLst>
              <a:ext uri="{FF2B5EF4-FFF2-40B4-BE49-F238E27FC236}">
                <a16:creationId xmlns:a16="http://schemas.microsoft.com/office/drawing/2014/main" id="{03711B23-7DAC-4340-9DBB-BBBF0895E0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1" name="status-pill">
            <a:extLst>
              <a:ext uri="{FF2B5EF4-FFF2-40B4-BE49-F238E27FC236}">
                <a16:creationId xmlns:a16="http://schemas.microsoft.com/office/drawing/2014/main" id="{FC65B152-8367-4C1E-B0EC-FBF6705B0B89}"/>
              </a:ext>
            </a:extLst>
          </p:cNvPr>
          <p:cNvSpPr>
            <a:spLocks noGrp="1"/>
          </p:cNvSpPr>
          <p:nvPr/>
        </p:nvSpPr>
        <p:spPr>
          <a:xfrm>
            <a:off x="9525000" y="361950"/>
            <a:ext cx="1952625" cy="381000"/>
          </a:xfrm>
          <a:prstGeom prst="roundRect">
            <a:avLst>
              <a:gd name="adj" fmla="val 30000"/>
            </a:avLst>
          </a:prstGeom>
          <a:solidFill>
            <a:srgbClr val="D0EDFA"/>
          </a:solidFill>
          <a:ln w="9525">
            <a:solidFill>
              <a:srgbClr val="6DCBF4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0B4F6C"/>
                </a:solidFill>
              </a:defRPr>
            </a:pPr>
            <a:r>
              <a:rPr sz="1125" b="1">
                <a:solidFill>
                  <a:srgbClr val="0B4F6C"/>
                </a:solidFill>
              </a:rPr>
              <a:t>SIMULATION MVP</a:t>
            </a:r>
          </a:p>
        </p:txBody>
      </p:sp>
    </p:spTree>
    <p:extLst>
      <p:ext uri="{BB962C8B-B14F-4D97-AF65-F5344CB8AC3E}">
        <p14:creationId xmlns:p14="http://schemas.microsoft.com/office/powerpoint/2010/main" val="962728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Number-Placeholder-1-2">
            <a:extLst>
              <a:ext uri="{FF2B5EF4-FFF2-40B4-BE49-F238E27FC236}">
                <a16:creationId xmlns:a16="http://schemas.microsoft.com/office/drawing/2014/main" id="{C9150DDC-7409-4F36-8AA7-65593A7EE0BC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878704C9-50CD-4901-9CED-705DD70927A0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first target users manage sensitive payroll operations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2F09814E-D1CC-410A-AD4A-12D19E6702D6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Crypto-native teams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 paying contributors in digital assets across jurisdictions.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17980FC5-0CAA-4294-84F9-6F1517BB1148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DAOs and foundations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Organizations that need accountable treasury operations without public salary graphs.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FC422FAA-D216-41CA-81F5-EFE91FAB87EA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Payroll providers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Platforms seeking privacy-preserving settlement as embedded infrastructure.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BDFB21FE-D17A-4E99-942E-4FC6BFE35575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Distributed employers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companies balancing confidentiality, auditability and cross-border workflows.</a:t>
            </a:r>
          </a:p>
        </p:txBody>
      </p:sp>
      <p:sp>
        <p:nvSpPr>
          <p:cNvPr id="7" name="veilpay-accent">
            <a:extLst>
              <a:ext uri="{FF2B5EF4-FFF2-40B4-BE49-F238E27FC236}">
                <a16:creationId xmlns:a16="http://schemas.microsoft.com/office/drawing/2014/main" id="{29CC9341-B55D-430C-B822-3E11EAB0D2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3625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-Shape-532-p58-2">
            <a:extLst>
              <a:ext uri="{FF2B5EF4-FFF2-40B4-BE49-F238E27FC236}">
                <a16:creationId xmlns:a16="http://schemas.microsoft.com/office/drawing/2014/main" id="{07156D6E-36F7-4616-ACEB-B2D643CC4DD4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11669E10-B8B6-4E7B-8D3F-F33A42F48155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VeilPay is built for payroll operations, not generic private transfers</a:t>
            </a:r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1C6847A5-C467-40FE-906A-034AD3E34AAB}"/>
              </a:ext>
            </a:extLst>
          </p:cNvPr>
          <p:cNvSpPr>
            <a:spLocks noGrp="1"/>
          </p:cNvSpPr>
          <p:nvPr/>
        </p:nvSpPr>
        <p:spPr>
          <a:xfrm>
            <a:off x="393668" y="3365468"/>
            <a:ext cx="3568732" cy="2628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 payroll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Confidential records, but settlement and audits depend on closed systems.</a:t>
            </a:r>
          </a:p>
        </p:txBody>
      </p:sp>
      <p:sp>
        <p:nvSpPr>
          <p:cNvPr id="4" name="Content-Placeholder-1-5">
            <a:extLst>
              <a:ext uri="{FF2B5EF4-FFF2-40B4-BE49-F238E27FC236}">
                <a16:creationId xmlns:a16="http://schemas.microsoft.com/office/drawing/2014/main" id="{0CD48501-3D5B-439A-A62E-300E89DB1F92}"/>
              </a:ext>
            </a:extLst>
          </p:cNvPr>
          <p:cNvSpPr>
            <a:spLocks noGrp="1"/>
          </p:cNvSpPr>
          <p:nvPr/>
        </p:nvSpPr>
        <p:spPr>
          <a:xfrm>
            <a:off x="8229600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VeilPay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Combines private commitments, one-time claims and minimum-necessary compliance evidence.</a:t>
            </a:r>
          </a:p>
        </p:txBody>
      </p:sp>
      <p:sp>
        <p:nvSpPr>
          <p:cNvPr id="5" name="Content-Placeholder-2-6">
            <a:extLst>
              <a:ext uri="{FF2B5EF4-FFF2-40B4-BE49-F238E27FC236}">
                <a16:creationId xmlns:a16="http://schemas.microsoft.com/office/drawing/2014/main" id="{F4F8B705-F31A-4452-B915-6A9E11C8C81E}"/>
              </a:ext>
            </a:extLst>
          </p:cNvPr>
          <p:cNvSpPr>
            <a:spLocks noGrp="1"/>
          </p:cNvSpPr>
          <p:nvPr/>
        </p:nvSpPr>
        <p:spPr>
          <a:xfrm>
            <a:off x="4311682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Privacy transfer tools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Protect transfers, but do not solve payroll batch operations and reviewer workflows.</a:t>
            </a:r>
          </a:p>
        </p:txBody>
      </p:sp>
      <p:sp>
        <p:nvSpPr>
          <p:cNvPr id="6" name="veilpay-accent">
            <a:extLst>
              <a:ext uri="{FF2B5EF4-FFF2-40B4-BE49-F238E27FC236}">
                <a16:creationId xmlns:a16="http://schemas.microsoft.com/office/drawing/2014/main" id="{B1801F26-3626-4540-878A-4D1FB56401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29738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-Shape-532-p58-2">
            <a:extLst>
              <a:ext uri="{FF2B5EF4-FFF2-40B4-BE49-F238E27FC236}">
                <a16:creationId xmlns:a16="http://schemas.microsoft.com/office/drawing/2014/main" id="{06EA6427-6FFC-436C-BFAA-97B4CBF643E4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56DB537E-C5B6-47A8-86E5-38A872B52ECB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hybrid B2B model aligns recurring and usage revenue</a:t>
            </a:r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B7B5C16D-13D8-469F-BED8-B1CBF020194F}"/>
              </a:ext>
            </a:extLst>
          </p:cNvPr>
          <p:cNvSpPr>
            <a:spLocks noGrp="1"/>
          </p:cNvSpPr>
          <p:nvPr/>
        </p:nvSpPr>
        <p:spPr>
          <a:xfrm>
            <a:off x="393668" y="3365468"/>
            <a:ext cx="3568732" cy="26289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subscription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Monthly or annual employer plans for payroll administration, compliance workflows and team access.</a:t>
            </a:r>
          </a:p>
        </p:txBody>
      </p:sp>
      <p:sp>
        <p:nvSpPr>
          <p:cNvPr id="4" name="Content-Placeholder-1-5">
            <a:extLst>
              <a:ext uri="{FF2B5EF4-FFF2-40B4-BE49-F238E27FC236}">
                <a16:creationId xmlns:a16="http://schemas.microsoft.com/office/drawing/2014/main" id="{5EF1C6CC-105D-499B-8026-05CBB442899C}"/>
              </a:ext>
            </a:extLst>
          </p:cNvPr>
          <p:cNvSpPr>
            <a:spLocks noGrp="1"/>
          </p:cNvSpPr>
          <p:nvPr/>
        </p:nvSpPr>
        <p:spPr>
          <a:xfrm>
            <a:off x="8229600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Enterprise services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Paid integrations, compliance configuration, support and private deployment options for providers.</a:t>
            </a:r>
          </a:p>
        </p:txBody>
      </p:sp>
      <p:sp>
        <p:nvSpPr>
          <p:cNvPr id="5" name="Content-Placeholder-2-6">
            <a:extLst>
              <a:ext uri="{FF2B5EF4-FFF2-40B4-BE49-F238E27FC236}">
                <a16:creationId xmlns:a16="http://schemas.microsoft.com/office/drawing/2014/main" id="{16C7AAB3-AAC6-49AA-AAEC-751DB5044925}"/>
              </a:ext>
            </a:extLst>
          </p:cNvPr>
          <p:cNvSpPr>
            <a:spLocks noGrp="1"/>
          </p:cNvSpPr>
          <p:nvPr/>
        </p:nvSpPr>
        <p:spPr>
          <a:xfrm>
            <a:off x="4311682" y="3365468"/>
            <a:ext cx="3568732" cy="26289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Usage fee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Variable fees tied to completed payroll batches, active employees and proof workload.</a:t>
            </a:r>
          </a:p>
        </p:txBody>
      </p:sp>
      <p:sp>
        <p:nvSpPr>
          <p:cNvPr id="6" name="veilpay-accent">
            <a:extLst>
              <a:ext uri="{FF2B5EF4-FFF2-40B4-BE49-F238E27FC236}">
                <a16:creationId xmlns:a16="http://schemas.microsoft.com/office/drawing/2014/main" id="{5A4094FC-37AD-4FAA-88EC-CDC7509D96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7" name="status-pill">
            <a:extLst>
              <a:ext uri="{FF2B5EF4-FFF2-40B4-BE49-F238E27FC236}">
                <a16:creationId xmlns:a16="http://schemas.microsoft.com/office/drawing/2014/main" id="{2E59AC86-4EAC-4C46-A0C2-9BD222F89861}"/>
              </a:ext>
            </a:extLst>
          </p:cNvPr>
          <p:cNvSpPr>
            <a:spLocks noGrp="1"/>
          </p:cNvSpPr>
          <p:nvPr/>
        </p:nvSpPr>
        <p:spPr>
          <a:xfrm>
            <a:off x="9525000" y="1381125"/>
            <a:ext cx="1952625" cy="381000"/>
          </a:xfrm>
          <a:prstGeom prst="roundRect">
            <a:avLst>
              <a:gd name="adj" fmla="val 30000"/>
            </a:avLst>
          </a:prstGeom>
          <a:solidFill>
            <a:srgbClr val="D0EDFA"/>
          </a:solidFill>
          <a:ln w="9525">
            <a:solidFill>
              <a:srgbClr val="6DCBF4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0B4F6C"/>
                </a:solidFill>
              </a:defRPr>
            </a:pPr>
            <a:r>
              <a:rPr sz="1125" b="1">
                <a:solidFill>
                  <a:srgbClr val="0B4F6C"/>
                </a:solidFill>
              </a:rPr>
              <a:t>PRICING TO VALIDATE</a:t>
            </a:r>
          </a:p>
        </p:txBody>
      </p:sp>
    </p:spTree>
    <p:extLst>
      <p:ext uri="{BB962C8B-B14F-4D97-AF65-F5344CB8AC3E}">
        <p14:creationId xmlns:p14="http://schemas.microsoft.com/office/powerpoint/2010/main" val="1239392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-Rectangle-5-1">
            <a:extLst>
              <a:ext uri="{FF2B5EF4-FFF2-40B4-BE49-F238E27FC236}">
                <a16:creationId xmlns:a16="http://schemas.microsoft.com/office/drawing/2014/main" id="{DF964145-F966-41E1-A815-3BE1C5F13819}"/>
              </a:ext>
            </a:extLst>
          </p:cNvPr>
          <p:cNvSpPr>
            <a:spLocks noGrp="1"/>
          </p:cNvSpPr>
          <p:nvPr/>
        </p:nvSpPr>
        <p:spPr>
          <a:xfrm>
            <a:off x="393668" y="3022568"/>
            <a:ext cx="3568732" cy="2971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</p:sp>
      <p:sp>
        <p:nvSpPr>
          <p:cNvPr id="2" name="Rounded-Rectangle-6-2">
            <a:extLst>
              <a:ext uri="{FF2B5EF4-FFF2-40B4-BE49-F238E27FC236}">
                <a16:creationId xmlns:a16="http://schemas.microsoft.com/office/drawing/2014/main" id="{9A9FA403-A98F-4D13-A618-B52C0E8C4721}"/>
              </a:ext>
            </a:extLst>
          </p:cNvPr>
          <p:cNvSpPr>
            <a:spLocks noGrp="1"/>
          </p:cNvSpPr>
          <p:nvPr/>
        </p:nvSpPr>
        <p:spPr>
          <a:xfrm>
            <a:off x="4311682" y="3022568"/>
            <a:ext cx="3568732" cy="2971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</p:sp>
      <p:sp>
        <p:nvSpPr>
          <p:cNvPr id="3" name="Rounded-Rectangle-7-3">
            <a:extLst>
              <a:ext uri="{FF2B5EF4-FFF2-40B4-BE49-F238E27FC236}">
                <a16:creationId xmlns:a16="http://schemas.microsoft.com/office/drawing/2014/main" id="{8F0B00C3-6410-423A-9324-D48AB65C7D18}"/>
              </a:ext>
            </a:extLst>
          </p:cNvPr>
          <p:cNvSpPr>
            <a:spLocks noGrp="1"/>
          </p:cNvSpPr>
          <p:nvPr/>
        </p:nvSpPr>
        <p:spPr>
          <a:xfrm>
            <a:off x="8232267" y="3022568"/>
            <a:ext cx="3568732" cy="2971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</p:sp>
      <p:sp>
        <p:nvSpPr>
          <p:cNvPr id="4" name="Slide-Number-Placeholder-1-4">
            <a:extLst>
              <a:ext uri="{FF2B5EF4-FFF2-40B4-BE49-F238E27FC236}">
                <a16:creationId xmlns:a16="http://schemas.microsoft.com/office/drawing/2014/main" id="{50852000-E254-42C6-8F64-8F3090744547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5" name="Title-2-5">
            <a:extLst>
              <a:ext uri="{FF2B5EF4-FFF2-40B4-BE49-F238E27FC236}">
                <a16:creationId xmlns:a16="http://schemas.microsoft.com/office/drawing/2014/main" id="{B9B7B2FA-7FA6-44E4-B33F-4E70A2EBBBF4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Traction is product evidence today, not market traction yet</a:t>
            </a:r>
          </a:p>
        </p:txBody>
      </p:sp>
      <p:sp>
        <p:nvSpPr>
          <p:cNvPr id="6" name="Content-Placeholder-9-6">
            <a:extLst>
              <a:ext uri="{FF2B5EF4-FFF2-40B4-BE49-F238E27FC236}">
                <a16:creationId xmlns:a16="http://schemas.microsoft.com/office/drawing/2014/main" id="{83D9469B-1948-4202-8428-40152463B504}"/>
              </a:ext>
            </a:extLst>
          </p:cNvPr>
          <p:cNvSpPr>
            <a:spLocks noGrp="1"/>
          </p:cNvSpPr>
          <p:nvPr/>
        </p:nvSpPr>
        <p:spPr>
          <a:xfrm>
            <a:off x="702374" y="4900613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Role-based product portals</a:t>
            </a:r>
          </a:p>
        </p:txBody>
      </p:sp>
      <p:sp>
        <p:nvSpPr>
          <p:cNvPr id="7" name="Content-Placeholder-10-7">
            <a:extLst>
              <a:ext uri="{FF2B5EF4-FFF2-40B4-BE49-F238E27FC236}">
                <a16:creationId xmlns:a16="http://schemas.microsoft.com/office/drawing/2014/main" id="{08D76C4C-7DAD-4B83-A959-25153BCE1CE0}"/>
              </a:ext>
            </a:extLst>
          </p:cNvPr>
          <p:cNvSpPr>
            <a:spLocks noGrp="1"/>
          </p:cNvSpPr>
          <p:nvPr/>
        </p:nvSpPr>
        <p:spPr>
          <a:xfrm>
            <a:off x="8541830" y="4900613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npm audit vulnerabilities</a:t>
            </a:r>
          </a:p>
        </p:txBody>
      </p:sp>
      <p:sp>
        <p:nvSpPr>
          <p:cNvPr id="8" name="Content-Placeholder-11-8">
            <a:extLst>
              <a:ext uri="{FF2B5EF4-FFF2-40B4-BE49-F238E27FC236}">
                <a16:creationId xmlns:a16="http://schemas.microsoft.com/office/drawing/2014/main" id="{25E6D2FC-C943-438D-9880-B21BFC624E6D}"/>
              </a:ext>
            </a:extLst>
          </p:cNvPr>
          <p:cNvSpPr>
            <a:spLocks noGrp="1"/>
          </p:cNvSpPr>
          <p:nvPr/>
        </p:nvSpPr>
        <p:spPr>
          <a:xfrm>
            <a:off x="4621244" y="4900613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Automated backend tests passing</a:t>
            </a:r>
          </a:p>
        </p:txBody>
      </p:sp>
      <p:sp>
        <p:nvSpPr>
          <p:cNvPr id="9" name="Content-Placeholder-9-9">
            <a:extLst>
              <a:ext uri="{FF2B5EF4-FFF2-40B4-BE49-F238E27FC236}">
                <a16:creationId xmlns:a16="http://schemas.microsoft.com/office/drawing/2014/main" id="{623F0A14-78E6-4545-AF4B-B20601E3CFEA}"/>
              </a:ext>
            </a:extLst>
          </p:cNvPr>
          <p:cNvSpPr>
            <a:spLocks noGrp="1"/>
          </p:cNvSpPr>
          <p:nvPr/>
        </p:nvSpPr>
        <p:spPr>
          <a:xfrm>
            <a:off x="702374" y="3429000"/>
            <a:ext cx="2940082" cy="135931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0" name="Content-Placeholder-9-10">
            <a:extLst>
              <a:ext uri="{FF2B5EF4-FFF2-40B4-BE49-F238E27FC236}">
                <a16:creationId xmlns:a16="http://schemas.microsoft.com/office/drawing/2014/main" id="{5F2B0FB8-0B9F-4A60-A2B1-28FAEF6E9004}"/>
              </a:ext>
            </a:extLst>
          </p:cNvPr>
          <p:cNvSpPr>
            <a:spLocks noGrp="1"/>
          </p:cNvSpPr>
          <p:nvPr/>
        </p:nvSpPr>
        <p:spPr>
          <a:xfrm>
            <a:off x="4612958" y="3429000"/>
            <a:ext cx="2940082" cy="135931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11" name="Content-Placeholder-9-11">
            <a:extLst>
              <a:ext uri="{FF2B5EF4-FFF2-40B4-BE49-F238E27FC236}">
                <a16:creationId xmlns:a16="http://schemas.microsoft.com/office/drawing/2014/main" id="{45200BDB-87ED-4894-8B7E-6954DEE096FB}"/>
              </a:ext>
            </a:extLst>
          </p:cNvPr>
          <p:cNvSpPr>
            <a:spLocks noGrp="1"/>
          </p:cNvSpPr>
          <p:nvPr/>
        </p:nvSpPr>
        <p:spPr>
          <a:xfrm>
            <a:off x="8562404" y="3429000"/>
            <a:ext cx="2940082" cy="135931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2" name="Content-Placeholder-15-12">
            <a:extLst>
              <a:ext uri="{FF2B5EF4-FFF2-40B4-BE49-F238E27FC236}">
                <a16:creationId xmlns:a16="http://schemas.microsoft.com/office/drawing/2014/main" id="{5D918152-014D-4A94-818C-5A3BB2B7AB6C}"/>
              </a:ext>
            </a:extLst>
          </p:cNvPr>
          <p:cNvSpPr>
            <a:spLocks noGrp="1"/>
          </p:cNvSpPr>
          <p:nvPr/>
        </p:nvSpPr>
        <p:spPr>
          <a:xfrm>
            <a:off x="393668" y="1138333"/>
            <a:ext cx="11404568" cy="159943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VERIFIED BUILD PROGRESS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Functional local MVP; public demo deployment-ready. No production users, on-chain volume, TVL or revenue are claimed.</a:t>
            </a:r>
          </a:p>
        </p:txBody>
      </p:sp>
      <p:sp>
        <p:nvSpPr>
          <p:cNvPr id="13" name="veilpay-accent">
            <a:extLst>
              <a:ext uri="{FF2B5EF4-FFF2-40B4-BE49-F238E27FC236}">
                <a16:creationId xmlns:a16="http://schemas.microsoft.com/office/drawing/2014/main" id="{B9C8E727-6762-4A30-B85D-3943FA9A34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5663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-Number-Placeholder-3-2">
            <a:extLst>
              <a:ext uri="{FF2B5EF4-FFF2-40B4-BE49-F238E27FC236}">
                <a16:creationId xmlns:a16="http://schemas.microsoft.com/office/drawing/2014/main" id="{15B1AB5D-3551-4133-9EE7-F029F77CACB9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12CEAA74-E175-42BF-BAA8-C559FFACCD49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10-week path converts the demo into a preprod pilot</a:t>
            </a:r>
          </a:p>
        </p:txBody>
      </p:sp>
      <p:cxnSp>
        <p:nvCxnSpPr>
          <p:cNvPr id="16" name="Google-Shape-2259-p159-4"/>
          <p:cNvCxnSpPr/>
          <p:nvPr/>
        </p:nvCxnSpPr>
        <p:spPr>
          <a:xfrm>
            <a:off x="337757" y="3373755"/>
            <a:ext cx="12245435" cy="286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E74ADBD3-1BD5-44EE-A5A9-D3ABC96DC044}"/>
              </a:ext>
            </a:extLst>
          </p:cNvPr>
          <p:cNvSpPr>
            <a:spLocks noGrp="1"/>
          </p:cNvSpPr>
          <p:nvPr/>
        </p:nvSpPr>
        <p:spPr>
          <a:xfrm>
            <a:off x="337757" y="3320225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39433F1A-24FE-4D1B-94F3-D1C2D4D53821}"/>
              </a:ext>
            </a:extLst>
          </p:cNvPr>
          <p:cNvSpPr>
            <a:spLocks noGrp="1"/>
          </p:cNvSpPr>
          <p:nvPr/>
        </p:nvSpPr>
        <p:spPr>
          <a:xfrm>
            <a:off x="4251770" y="3320225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7BDBDAFF-C49B-46F2-A83F-69F49CB20E41}"/>
              </a:ext>
            </a:extLst>
          </p:cNvPr>
          <p:cNvSpPr>
            <a:spLocks noGrp="1"/>
          </p:cNvSpPr>
          <p:nvPr/>
        </p:nvSpPr>
        <p:spPr>
          <a:xfrm>
            <a:off x="8176070" y="3320225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7" name="Content-Placeholder-15-8">
            <a:extLst>
              <a:ext uri="{FF2B5EF4-FFF2-40B4-BE49-F238E27FC236}">
                <a16:creationId xmlns:a16="http://schemas.microsoft.com/office/drawing/2014/main" id="{11CF321F-9191-4F9E-9C70-64B02B97F84B}"/>
              </a:ext>
            </a:extLst>
          </p:cNvPr>
          <p:cNvSpPr>
            <a:spLocks noGrp="1"/>
          </p:cNvSpPr>
          <p:nvPr/>
        </p:nvSpPr>
        <p:spPr>
          <a:xfrm>
            <a:off x="393668" y="2843308"/>
            <a:ext cx="1612868" cy="26241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WEEKS 1-3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3FB3D6B1-46C6-44BF-8A82-6C1144A64347}"/>
              </a:ext>
            </a:extLst>
          </p:cNvPr>
          <p:cNvSpPr>
            <a:spLocks noGrp="1"/>
          </p:cNvSpPr>
          <p:nvPr/>
        </p:nvSpPr>
        <p:spPr>
          <a:xfrm>
            <a:off x="4294156" y="2843308"/>
            <a:ext cx="1612868" cy="26241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WEEKS 4-7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80BAF868-A011-45CE-A51B-2242C9CF286A}"/>
              </a:ext>
            </a:extLst>
          </p:cNvPr>
          <p:cNvSpPr>
            <a:spLocks noGrp="1"/>
          </p:cNvSpPr>
          <p:nvPr/>
        </p:nvSpPr>
        <p:spPr>
          <a:xfrm>
            <a:off x="8223218" y="2843308"/>
            <a:ext cx="1612868" cy="26241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WEEKS 8-10</a:t>
            </a:r>
          </a:p>
        </p:txBody>
      </p:sp>
      <p:sp>
        <p:nvSpPr>
          <p:cNvPr id="10" name="Text-Placeholder-16-11">
            <a:extLst>
              <a:ext uri="{FF2B5EF4-FFF2-40B4-BE49-F238E27FC236}">
                <a16:creationId xmlns:a16="http://schemas.microsoft.com/office/drawing/2014/main" id="{52E00787-E012-4414-958E-6DBBB581453D}"/>
              </a:ext>
            </a:extLst>
          </p:cNvPr>
          <p:cNvSpPr>
            <a:spLocks noGrp="1"/>
          </p:cNvSpPr>
          <p:nvPr/>
        </p:nvSpPr>
        <p:spPr>
          <a:xfrm>
            <a:off x="4317111" y="3822668"/>
            <a:ext cx="3156109" cy="158629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Deploy safely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proofs, deploy to preprod and complete end-to-end wallet tests.</a:t>
            </a:r>
          </a:p>
        </p:txBody>
      </p:sp>
      <p:sp>
        <p:nvSpPr>
          <p:cNvPr id="11" name="Text-Placeholder-16-12">
            <a:extLst>
              <a:ext uri="{FF2B5EF4-FFF2-40B4-BE49-F238E27FC236}">
                <a16:creationId xmlns:a16="http://schemas.microsoft.com/office/drawing/2014/main" id="{F86445AA-D5EE-4A85-836F-48F0AA0675D0}"/>
              </a:ext>
            </a:extLst>
          </p:cNvPr>
          <p:cNvSpPr>
            <a:spLocks noGrp="1"/>
          </p:cNvSpPr>
          <p:nvPr/>
        </p:nvSpPr>
        <p:spPr>
          <a:xfrm>
            <a:off x="399859" y="3822668"/>
            <a:ext cx="3156109" cy="158629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 the core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 Compact circuits, compile artifacts and generate SDK bindings.</a:t>
            </a:r>
          </a:p>
        </p:txBody>
      </p:sp>
      <p:sp>
        <p:nvSpPr>
          <p:cNvPr id="12" name="Text-Placeholder-16-13">
            <a:extLst>
              <a:ext uri="{FF2B5EF4-FFF2-40B4-BE49-F238E27FC236}">
                <a16:creationId xmlns:a16="http://schemas.microsoft.com/office/drawing/2014/main" id="{0383DB7A-84EC-4EDA-99E5-62C187FB29CA}"/>
              </a:ext>
            </a:extLst>
          </p:cNvPr>
          <p:cNvSpPr>
            <a:spLocks noGrp="1"/>
          </p:cNvSpPr>
          <p:nvPr/>
        </p:nvSpPr>
        <p:spPr>
          <a:xfrm>
            <a:off x="8177879" y="3822668"/>
            <a:ext cx="3156109" cy="158629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 a pilot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Add auth/RBAC, durable storage and conduct design-partner discovery.</a:t>
            </a:r>
          </a:p>
        </p:txBody>
      </p:sp>
      <p:sp>
        <p:nvSpPr>
          <p:cNvPr id="13" name="veilpay-accent">
            <a:extLst>
              <a:ext uri="{FF2B5EF4-FFF2-40B4-BE49-F238E27FC236}">
                <a16:creationId xmlns:a16="http://schemas.microsoft.com/office/drawing/2014/main" id="{D9728D1C-2C5A-4B9C-A835-36A02894A5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19066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am-title">
            <a:extLst>
              <a:ext uri="{FF2B5EF4-FFF2-40B4-BE49-F238E27FC236}">
                <a16:creationId xmlns:a16="http://schemas.microsoft.com/office/drawing/2014/main" id="{3E8E1692-9D98-49DC-B3D6-38FB8348E7AC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</a:defRPr>
            </a:pPr>
            <a:r>
              <a:rPr sz="2925" b="1">
                <a:solidFill>
                  <a:srgbClr val="000000"/>
                </a:solidFill>
              </a:rPr>
              <a:t>A focused team is building private payroll for Midnight</a:t>
            </a:r>
          </a:p>
        </p:txBody>
      </p:sp>
      <p:sp>
        <p:nvSpPr>
          <p:cNvPr id="2" name="team-kicker">
            <a:extLst>
              <a:ext uri="{FF2B5EF4-FFF2-40B4-BE49-F238E27FC236}">
                <a16:creationId xmlns:a16="http://schemas.microsoft.com/office/drawing/2014/main" id="{E905F71F-A905-4605-BDC6-903440B64FFF}"/>
              </a:ext>
            </a:extLst>
          </p:cNvPr>
          <p:cNvSpPr>
            <a:spLocks noGrp="1"/>
          </p:cNvSpPr>
          <p:nvPr/>
        </p:nvSpPr>
        <p:spPr>
          <a:xfrm>
            <a:off x="400050" y="11811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0B4F6C"/>
                </a:solidFill>
              </a:defRPr>
            </a:pPr>
            <a:r>
              <a:rPr sz="1350" b="1">
                <a:solidFill>
                  <a:srgbClr val="0B4F6C"/>
                </a:solidFill>
              </a:rPr>
              <a:t>CORE TEAM</a:t>
            </a:r>
          </a:p>
        </p:txBody>
      </p:sp>
      <p:sp>
        <p:nvSpPr>
          <p:cNvPr id="3" name="team-photo-1">
            <a:extLst>
              <a:ext uri="{FF2B5EF4-FFF2-40B4-BE49-F238E27FC236}">
                <a16:creationId xmlns:a16="http://schemas.microsoft.com/office/drawing/2014/main" id="{B5EA2B62-A57C-4935-B26E-EF6FF2C407D1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2F2F2"/>
          </a:solidFill>
          <a:ln w="14288">
            <a:solidFill>
              <a:srgbClr val="B8BCC4"/>
            </a:solidFill>
            <a:prstDash val="dash"/>
          </a:ln>
        </p:spPr>
        <p:txBody>
          <a:bodyPr anchor="ctr"/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 sz="1200" b="1" smtClean="0">
                <a:solidFill>
                  <a:srgbClr val="6B7280"/>
                </a:solidFill>
              </a:rPr>
              <a:t>ADD PHOTO</a:t>
            </a:r>
            <a:endParaRPr sz="1200" b="1">
              <a:solidFill>
                <a:srgbClr val="6B7280"/>
              </a:solidFill>
            </a:endParaRPr>
          </a:p>
        </p:txBody>
      </p:sp>
      <p:sp>
        <p:nvSpPr>
          <p:cNvPr id="4" name="team-name-1">
            <a:extLst>
              <a:ext uri="{FF2B5EF4-FFF2-40B4-BE49-F238E27FC236}">
                <a16:creationId xmlns:a16="http://schemas.microsoft.com/office/drawing/2014/main" id="{143922FF-78BD-4517-9F5B-0913520F24AF}"/>
              </a:ext>
            </a:extLst>
          </p:cNvPr>
          <p:cNvSpPr>
            <a:spLocks noGrp="1"/>
          </p:cNvSpPr>
          <p:nvPr/>
        </p:nvSpPr>
        <p:spPr>
          <a:xfrm>
            <a:off x="400050" y="44386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 dirty="0" smtClean="0">
                <a:solidFill>
                  <a:srgbClr val="000000"/>
                </a:solidFill>
              </a:rPr>
              <a:t>Uğur</a:t>
            </a:r>
            <a:r>
              <a:rPr lang="tr-TR" sz="1800" b="1" dirty="0" smtClean="0">
                <a:solidFill>
                  <a:srgbClr val="000000"/>
                </a:solidFill>
              </a:rPr>
              <a:t> Erdoğan</a:t>
            </a:r>
            <a:endParaRPr sz="1800" b="1" dirty="0">
              <a:solidFill>
                <a:srgbClr val="000000"/>
              </a:solidFill>
            </a:endParaRPr>
          </a:p>
        </p:txBody>
      </p:sp>
      <p:sp>
        <p:nvSpPr>
          <p:cNvPr id="5" name="team-role-1">
            <a:extLst>
              <a:ext uri="{FF2B5EF4-FFF2-40B4-BE49-F238E27FC236}">
                <a16:creationId xmlns:a16="http://schemas.microsoft.com/office/drawing/2014/main" id="{CF781486-D4A8-4B0C-858D-E8D8E2197273}"/>
              </a:ext>
            </a:extLst>
          </p:cNvPr>
          <p:cNvSpPr>
            <a:spLocks noGrp="1"/>
          </p:cNvSpPr>
          <p:nvPr/>
        </p:nvSpPr>
        <p:spPr>
          <a:xfrm>
            <a:off x="400050" y="5105400"/>
            <a:ext cx="238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B4F6C"/>
                </a:solidFill>
              </a:defRPr>
            </a:pPr>
            <a:r>
              <a:rPr sz="1275" b="1">
                <a:solidFill>
                  <a:srgbClr val="0B4F6C"/>
                </a:solidFill>
              </a:rPr>
              <a:t>Founder | Full-Stack Developer</a:t>
            </a:r>
          </a:p>
        </p:txBody>
      </p:sp>
      <p:sp>
        <p:nvSpPr>
          <p:cNvPr id="6" name="team-focus-1">
            <a:extLst>
              <a:ext uri="{FF2B5EF4-FFF2-40B4-BE49-F238E27FC236}">
                <a16:creationId xmlns:a16="http://schemas.microsoft.com/office/drawing/2014/main" id="{2A2EBA2B-4936-4E30-9744-EFF4CE3B9634}"/>
              </a:ext>
            </a:extLst>
          </p:cNvPr>
          <p:cNvSpPr>
            <a:spLocks noGrp="1"/>
          </p:cNvSpPr>
          <p:nvPr/>
        </p:nvSpPr>
        <p:spPr>
          <a:xfrm>
            <a:off x="400050" y="563880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Product ownership, full-stack implementation and privacy architecture</a:t>
            </a:r>
          </a:p>
        </p:txBody>
      </p:sp>
      <p:sp>
        <p:nvSpPr>
          <p:cNvPr id="7" name="team-photo-2">
            <a:extLst>
              <a:ext uri="{FF2B5EF4-FFF2-40B4-BE49-F238E27FC236}">
                <a16:creationId xmlns:a16="http://schemas.microsoft.com/office/drawing/2014/main" id="{8EC78DD1-91FD-4283-92C1-85BD5712FC32}"/>
              </a:ext>
            </a:extLst>
          </p:cNvPr>
          <p:cNvSpPr>
            <a:spLocks noGrp="1"/>
          </p:cNvSpPr>
          <p:nvPr/>
        </p:nvSpPr>
        <p:spPr>
          <a:xfrm>
            <a:off x="3248025" y="1809750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2F2F2"/>
          </a:solidFill>
          <a:ln w="14288">
            <a:solidFill>
              <a:srgbClr val="B8BCC4"/>
            </a:solidFill>
            <a:prstDash val="dash"/>
          </a:ln>
        </p:spPr>
        <p:txBody>
          <a:bodyPr anchor="ctr"/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ADD PHOTO</a:t>
            </a:r>
          </a:p>
        </p:txBody>
      </p:sp>
      <p:sp>
        <p:nvSpPr>
          <p:cNvPr id="8" name="team-name-2">
            <a:extLst>
              <a:ext uri="{FF2B5EF4-FFF2-40B4-BE49-F238E27FC236}">
                <a16:creationId xmlns:a16="http://schemas.microsoft.com/office/drawing/2014/main" id="{98747F16-A92E-429E-B521-23147D4CD15C}"/>
              </a:ext>
            </a:extLst>
          </p:cNvPr>
          <p:cNvSpPr>
            <a:spLocks noGrp="1"/>
          </p:cNvSpPr>
          <p:nvPr/>
        </p:nvSpPr>
        <p:spPr>
          <a:xfrm>
            <a:off x="3248025" y="44386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Musa Eren Topcu</a:t>
            </a:r>
          </a:p>
        </p:txBody>
      </p:sp>
      <p:sp>
        <p:nvSpPr>
          <p:cNvPr id="9" name="team-role-2">
            <a:extLst>
              <a:ext uri="{FF2B5EF4-FFF2-40B4-BE49-F238E27FC236}">
                <a16:creationId xmlns:a16="http://schemas.microsoft.com/office/drawing/2014/main" id="{1D5865C0-7205-4335-BFE2-D54976ED5778}"/>
              </a:ext>
            </a:extLst>
          </p:cNvPr>
          <p:cNvSpPr>
            <a:spLocks noGrp="1"/>
          </p:cNvSpPr>
          <p:nvPr/>
        </p:nvSpPr>
        <p:spPr>
          <a:xfrm>
            <a:off x="3248025" y="5105400"/>
            <a:ext cx="238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B4F6C"/>
                </a:solidFill>
              </a:defRPr>
            </a:pPr>
            <a:r>
              <a:rPr sz="1275" b="1">
                <a:solidFill>
                  <a:srgbClr val="0B4F6C"/>
                </a:solidFill>
              </a:rPr>
              <a:t>Co-founder | Blockchain Lead</a:t>
            </a:r>
          </a:p>
        </p:txBody>
      </p:sp>
      <p:sp>
        <p:nvSpPr>
          <p:cNvPr id="10" name="team-focus-2">
            <a:extLst>
              <a:ext uri="{FF2B5EF4-FFF2-40B4-BE49-F238E27FC236}">
                <a16:creationId xmlns:a16="http://schemas.microsoft.com/office/drawing/2014/main" id="{74DE5676-DA24-4A2F-B1BF-04A2EC415A53}"/>
              </a:ext>
            </a:extLst>
          </p:cNvPr>
          <p:cNvSpPr>
            <a:spLocks noGrp="1"/>
          </p:cNvSpPr>
          <p:nvPr/>
        </p:nvSpPr>
        <p:spPr>
          <a:xfrm>
            <a:off x="3248025" y="563880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Midnight integration, Compact contracts and proof architecture</a:t>
            </a:r>
          </a:p>
        </p:txBody>
      </p:sp>
      <p:sp>
        <p:nvSpPr>
          <p:cNvPr id="11" name="team-photo-3">
            <a:extLst>
              <a:ext uri="{FF2B5EF4-FFF2-40B4-BE49-F238E27FC236}">
                <a16:creationId xmlns:a16="http://schemas.microsoft.com/office/drawing/2014/main" id="{FA482EE4-8F2D-46FE-80A9-ACD081D05CE9}"/>
              </a:ext>
            </a:extLst>
          </p:cNvPr>
          <p:cNvSpPr>
            <a:spLocks noGrp="1"/>
          </p:cNvSpPr>
          <p:nvPr/>
        </p:nvSpPr>
        <p:spPr>
          <a:xfrm>
            <a:off x="6096000" y="1809750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2F2F2"/>
          </a:solidFill>
          <a:ln w="14288">
            <a:solidFill>
              <a:srgbClr val="B8BCC4"/>
            </a:solidFill>
            <a:prstDash val="dash"/>
          </a:ln>
        </p:spPr>
        <p:txBody>
          <a:bodyPr anchor="ctr"/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ADD PHOTO</a:t>
            </a:r>
          </a:p>
        </p:txBody>
      </p:sp>
      <p:sp>
        <p:nvSpPr>
          <p:cNvPr id="12" name="team-name-3">
            <a:extLst>
              <a:ext uri="{FF2B5EF4-FFF2-40B4-BE49-F238E27FC236}">
                <a16:creationId xmlns:a16="http://schemas.microsoft.com/office/drawing/2014/main" id="{7223976F-6393-4702-8769-A5749C8B136C}"/>
              </a:ext>
            </a:extLst>
          </p:cNvPr>
          <p:cNvSpPr>
            <a:spLocks noGrp="1"/>
          </p:cNvSpPr>
          <p:nvPr/>
        </p:nvSpPr>
        <p:spPr>
          <a:xfrm>
            <a:off x="6096000" y="44386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Yusuf Arslan</a:t>
            </a:r>
          </a:p>
        </p:txBody>
      </p:sp>
      <p:sp>
        <p:nvSpPr>
          <p:cNvPr id="13" name="team-role-3">
            <a:extLst>
              <a:ext uri="{FF2B5EF4-FFF2-40B4-BE49-F238E27FC236}">
                <a16:creationId xmlns:a16="http://schemas.microsoft.com/office/drawing/2014/main" id="{9252BF06-08B7-487C-BE64-2C697607ABF5}"/>
              </a:ext>
            </a:extLst>
          </p:cNvPr>
          <p:cNvSpPr>
            <a:spLocks noGrp="1"/>
          </p:cNvSpPr>
          <p:nvPr/>
        </p:nvSpPr>
        <p:spPr>
          <a:xfrm>
            <a:off x="6096000" y="5105400"/>
            <a:ext cx="238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B4F6C"/>
                </a:solidFill>
              </a:defRPr>
            </a:pPr>
            <a:r>
              <a:rPr sz="1275" b="1">
                <a:solidFill>
                  <a:srgbClr val="0B4F6C"/>
                </a:solidFill>
              </a:rPr>
              <a:t>Frontend Developer</a:t>
            </a:r>
          </a:p>
        </p:txBody>
      </p:sp>
      <p:sp>
        <p:nvSpPr>
          <p:cNvPr id="14" name="team-focus-3">
            <a:extLst>
              <a:ext uri="{FF2B5EF4-FFF2-40B4-BE49-F238E27FC236}">
                <a16:creationId xmlns:a16="http://schemas.microsoft.com/office/drawing/2014/main" id="{6890EB7E-6826-447B-9F26-739B6B0CCF91}"/>
              </a:ext>
            </a:extLst>
          </p:cNvPr>
          <p:cNvSpPr>
            <a:spLocks noGrp="1"/>
          </p:cNvSpPr>
          <p:nvPr/>
        </p:nvSpPr>
        <p:spPr>
          <a:xfrm>
            <a:off x="6096000" y="563880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User interfaces, role-based portals and wallet experience</a:t>
            </a:r>
          </a:p>
        </p:txBody>
      </p:sp>
      <p:sp>
        <p:nvSpPr>
          <p:cNvPr id="15" name="team-photo-4">
            <a:extLst>
              <a:ext uri="{FF2B5EF4-FFF2-40B4-BE49-F238E27FC236}">
                <a16:creationId xmlns:a16="http://schemas.microsoft.com/office/drawing/2014/main" id="{39DC4E5A-BD58-4E3D-8C4B-52309E1AAD96}"/>
              </a:ext>
            </a:extLst>
          </p:cNvPr>
          <p:cNvSpPr>
            <a:spLocks noGrp="1"/>
          </p:cNvSpPr>
          <p:nvPr/>
        </p:nvSpPr>
        <p:spPr>
          <a:xfrm>
            <a:off x="8943975" y="1809750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2F2F2"/>
          </a:solidFill>
          <a:ln w="14288">
            <a:solidFill>
              <a:srgbClr val="B8BCC4"/>
            </a:solidFill>
            <a:prstDash val="dash"/>
          </a:ln>
        </p:spPr>
        <p:txBody>
          <a:bodyPr anchor="ctr"/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ADD PHOTO</a:t>
            </a:r>
          </a:p>
        </p:txBody>
      </p:sp>
      <p:sp>
        <p:nvSpPr>
          <p:cNvPr id="16" name="team-name-4">
            <a:extLst>
              <a:ext uri="{FF2B5EF4-FFF2-40B4-BE49-F238E27FC236}">
                <a16:creationId xmlns:a16="http://schemas.microsoft.com/office/drawing/2014/main" id="{AC2F7A2E-283F-41B7-80E9-11C6178A1FBB}"/>
              </a:ext>
            </a:extLst>
          </p:cNvPr>
          <p:cNvSpPr>
            <a:spLocks noGrp="1"/>
          </p:cNvSpPr>
          <p:nvPr/>
        </p:nvSpPr>
        <p:spPr>
          <a:xfrm>
            <a:off x="8943975" y="443865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Salih Töre</a:t>
            </a:r>
          </a:p>
        </p:txBody>
      </p:sp>
      <p:sp>
        <p:nvSpPr>
          <p:cNvPr id="17" name="team-role-4">
            <a:extLst>
              <a:ext uri="{FF2B5EF4-FFF2-40B4-BE49-F238E27FC236}">
                <a16:creationId xmlns:a16="http://schemas.microsoft.com/office/drawing/2014/main" id="{B1377A48-0BD9-49E2-959A-3D72D2C0F135}"/>
              </a:ext>
            </a:extLst>
          </p:cNvPr>
          <p:cNvSpPr>
            <a:spLocks noGrp="1"/>
          </p:cNvSpPr>
          <p:nvPr/>
        </p:nvSpPr>
        <p:spPr>
          <a:xfrm>
            <a:off x="8943975" y="5105400"/>
            <a:ext cx="2381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0B4F6C"/>
                </a:solidFill>
              </a:defRPr>
            </a:pPr>
            <a:r>
              <a:rPr sz="1275" b="1">
                <a:solidFill>
                  <a:srgbClr val="0B4F6C"/>
                </a:solidFill>
              </a:rPr>
              <a:t>Backend Developer</a:t>
            </a:r>
          </a:p>
        </p:txBody>
      </p:sp>
      <p:sp>
        <p:nvSpPr>
          <p:cNvPr id="18" name="team-focus-4">
            <a:extLst>
              <a:ext uri="{FF2B5EF4-FFF2-40B4-BE49-F238E27FC236}">
                <a16:creationId xmlns:a16="http://schemas.microsoft.com/office/drawing/2014/main" id="{7A760809-86A2-4494-89C7-00AD186816A5}"/>
              </a:ext>
            </a:extLst>
          </p:cNvPr>
          <p:cNvSpPr>
            <a:spLocks noGrp="1"/>
          </p:cNvSpPr>
          <p:nvPr/>
        </p:nvSpPr>
        <p:spPr>
          <a:xfrm>
            <a:off x="8943975" y="563880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API services, payroll workflows and data persistence</a:t>
            </a:r>
          </a:p>
        </p:txBody>
      </p:sp>
      <p:sp>
        <p:nvSpPr>
          <p:cNvPr id="19" name="team-page-number">
            <a:extLst>
              <a:ext uri="{FF2B5EF4-FFF2-40B4-BE49-F238E27FC236}">
                <a16:creationId xmlns:a16="http://schemas.microsoft.com/office/drawing/2014/main" id="{E474E423-351A-4779-9046-559DAC16A3C7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0" name="veilpay-accent">
            <a:extLst>
              <a:ext uri="{FF2B5EF4-FFF2-40B4-BE49-F238E27FC236}">
                <a16:creationId xmlns:a16="http://schemas.microsoft.com/office/drawing/2014/main" id="{B822D36D-9410-483D-B07F-0119B164E5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pic>
        <p:nvPicPr>
          <p:cNvPr id="22" name="Resim 2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104" y="1809751"/>
            <a:ext cx="2363171" cy="2381250"/>
          </a:xfrm>
          <a:prstGeom prst="rect">
            <a:avLst/>
          </a:prstGeom>
        </p:spPr>
      </p:pic>
      <p:pic>
        <p:nvPicPr>
          <p:cNvPr id="23" name="Resim 2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809751"/>
            <a:ext cx="2381250" cy="2381250"/>
          </a:xfrm>
          <a:prstGeom prst="rect">
            <a:avLst/>
          </a:prstGeom>
        </p:spPr>
      </p:pic>
      <p:pic>
        <p:nvPicPr>
          <p:cNvPr id="24" name="Resim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3975" y="1809750"/>
            <a:ext cx="2381250" cy="2381250"/>
          </a:xfrm>
          <a:prstGeom prst="rect">
            <a:avLst/>
          </a:prstGeom>
        </p:spPr>
      </p:pic>
      <p:pic>
        <p:nvPicPr>
          <p:cNvPr id="25" name="Resim 2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079" y="1809750"/>
            <a:ext cx="2363171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750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-3-1">
            <a:extLst>
              <a:ext uri="{FF2B5EF4-FFF2-40B4-BE49-F238E27FC236}">
                <a16:creationId xmlns:a16="http://schemas.microsoft.com/office/drawing/2014/main" id="{F7F19DC0-B780-4D61-B2E7-D34BD2D08F5D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Help VeilPay make private payroll provable.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76121D68-374F-410E-B33F-2C2BBE33AA23}"/>
              </a:ext>
            </a:extLst>
          </p:cNvPr>
          <p:cNvSpPr>
            <a:spLocks noGrp="1"/>
          </p:cNvSpPr>
          <p:nvPr/>
        </p:nvSpPr>
        <p:spPr>
          <a:xfrm>
            <a:off x="393668" y="4973288"/>
            <a:ext cx="35687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Compact and proof mentorship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Pilot introductions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Go-to-market and pre-seed readiness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BEE80914-0AAD-47AC-9552-4BA0AB0DF569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1612868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B4F6C"/>
                </a:solidFill>
                <a:latin typeface="Helvetica Neue"/>
                <a:ea typeface="Helvetica Neue"/>
                <a:cs typeface="Helvetica Neue"/>
              </a:rPr>
              <a:t>THE NIGHT SKY ASK</a:t>
            </a:r>
          </a:p>
        </p:txBody>
      </p:sp>
      <p:sp>
        <p:nvSpPr>
          <p:cNvPr id="4" name="veilpay-accent">
            <a:extLst>
              <a:ext uri="{FF2B5EF4-FFF2-40B4-BE49-F238E27FC236}">
                <a16:creationId xmlns:a16="http://schemas.microsoft.com/office/drawing/2014/main" id="{811019AD-3EDB-4C1C-8105-CE79818601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5725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9021122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824</Words>
  <Application>Microsoft Office PowerPoint</Application>
  <DocSecurity>0</DocSecurity>
  <PresentationFormat>Geniş ekran</PresentationFormat>
  <Paragraphs>138</Paragraphs>
  <Slides>13</Slides>
  <Notes>13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16" baseType="lpstr">
      <vt:lpstr>Calibri</vt:lpstr>
      <vt:lpstr>Helvetica Neue</vt:lpstr>
      <vt:lpstr>ChatGPT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Uğur</cp:lastModifiedBy>
  <cp:revision>1</cp:revision>
  <dcterms:created xsi:type="dcterms:W3CDTF">2026-07-15T07:04:54Z</dcterms:created>
  <dcterms:modified xsi:type="dcterms:W3CDTF">2026-07-15T07:38:12Z</dcterms:modified>
</cp:coreProperties>
</file>