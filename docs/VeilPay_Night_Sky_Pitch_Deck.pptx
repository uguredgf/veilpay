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94e5683af946db" /><Relationship Type="http://schemas.openxmlformats.org/officeDocument/2006/relationships/extended-properties" Target="/docProps/app.xml" Id="Re403147be918460d" /><Relationship Type="http://schemas.openxmlformats.org/officeDocument/2006/relationships/officeDocument" Target="/ppt/presentation.xml" Id="R315557db93b942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653b64c87f4b5c"/>
  </p:sldMasterIdLst>
  <p:notesMasterIdLst>
    <p:notesMasterId xmlns:r="http://schemas.openxmlformats.org/officeDocument/2006/relationships" r:id="Rda811132862b446e"/>
  </p:notesMasterIdLst>
  <p:sldIdLst>
    <p:sldId xmlns:r="http://schemas.openxmlformats.org/officeDocument/2006/relationships" id="256" r:id="Rdc6245a40c704b28"/>
    <p:sldId xmlns:r="http://schemas.openxmlformats.org/officeDocument/2006/relationships" id="257" r:id="R68ae020126b44794"/>
    <p:sldId xmlns:r="http://schemas.openxmlformats.org/officeDocument/2006/relationships" id="258" r:id="R19c0e63db8674acd"/>
    <p:sldId xmlns:r="http://schemas.openxmlformats.org/officeDocument/2006/relationships" id="259" r:id="Rbd6bfcbced0c4f20"/>
    <p:sldId xmlns:r="http://schemas.openxmlformats.org/officeDocument/2006/relationships" id="260" r:id="Rc8c568aea8cb4fbf"/>
    <p:sldId xmlns:r="http://schemas.openxmlformats.org/officeDocument/2006/relationships" id="261" r:id="R544190b546f54645"/>
    <p:sldId xmlns:r="http://schemas.openxmlformats.org/officeDocument/2006/relationships" id="262" r:id="Red4061b421964cda"/>
    <p:sldId xmlns:r="http://schemas.openxmlformats.org/officeDocument/2006/relationships" id="263" r:id="Rd861072b4e2048cc"/>
    <p:sldId xmlns:r="http://schemas.openxmlformats.org/officeDocument/2006/relationships" id="264" r:id="R8240ce05b4c744cb"/>
    <p:sldId xmlns:r="http://schemas.openxmlformats.org/officeDocument/2006/relationships" id="265" r:id="Re00f01ea0e774f7e"/>
    <p:sldId xmlns:r="http://schemas.openxmlformats.org/officeDocument/2006/relationships" id="266" r:id="R6a2fe59efb9c49d8"/>
    <p:sldId xmlns:r="http://schemas.openxmlformats.org/officeDocument/2006/relationships" id="267" r:id="R851c845ad78e44ac"/>
    <p:sldId xmlns:r="http://schemas.openxmlformats.org/officeDocument/2006/relationships" id="268" r:id="R54c692b5113f4d1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daa79021444747" /><Relationship Type="http://schemas.openxmlformats.org/officeDocument/2006/relationships/slideMaster" Target="/ppt/slideMasters/slideMaster1.xml" Id="Rc8653b64c87f4b5c" /><Relationship Type="http://schemas.openxmlformats.org/officeDocument/2006/relationships/notesMaster" Target="/ppt/notesMasters/notesMaster1.xml" Id="Rda811132862b446e" /><Relationship Type="http://schemas.openxmlformats.org/officeDocument/2006/relationships/presProps" Target="/ppt/presProps.xml" Id="R1e21bd837b0c495f" /><Relationship Type="http://schemas.openxmlformats.org/officeDocument/2006/relationships/tableStyles" Target="/ppt/tableStyles.xml" Id="R697d0aeb85db43c0" /><Relationship Type="http://schemas.openxmlformats.org/officeDocument/2006/relationships/slide" Target="/ppt/slides/slide1.xml" Id="Rdc6245a40c704b28" /><Relationship Type="http://schemas.openxmlformats.org/officeDocument/2006/relationships/slide" Target="/ppt/slides/slide2.xml" Id="R68ae020126b44794" /><Relationship Type="http://schemas.openxmlformats.org/officeDocument/2006/relationships/slide" Target="/ppt/slides/slide3.xml" Id="R19c0e63db8674acd" /><Relationship Type="http://schemas.openxmlformats.org/officeDocument/2006/relationships/slide" Target="/ppt/slides/slide4.xml" Id="Rbd6bfcbced0c4f20" /><Relationship Type="http://schemas.openxmlformats.org/officeDocument/2006/relationships/slide" Target="/ppt/slides/slide5.xml" Id="Rc8c568aea8cb4fbf" /><Relationship Type="http://schemas.openxmlformats.org/officeDocument/2006/relationships/slide" Target="/ppt/slides/slide6.xml" Id="R544190b546f54645" /><Relationship Type="http://schemas.openxmlformats.org/officeDocument/2006/relationships/slide" Target="/ppt/slides/slide7.xml" Id="Red4061b421964cda" /><Relationship Type="http://schemas.openxmlformats.org/officeDocument/2006/relationships/slide" Target="/ppt/slides/slide8.xml" Id="Rd861072b4e2048cc" /><Relationship Type="http://schemas.openxmlformats.org/officeDocument/2006/relationships/slide" Target="/ppt/slides/slide9.xml" Id="R8240ce05b4c744cb" /><Relationship Type="http://schemas.openxmlformats.org/officeDocument/2006/relationships/slide" Target="/ppt/slides/slide10.xml" Id="Re00f01ea0e774f7e" /><Relationship Type="http://schemas.openxmlformats.org/officeDocument/2006/relationships/slide" Target="/ppt/slides/slide11.xml" Id="R6a2fe59efb9c49d8" /><Relationship Type="http://schemas.openxmlformats.org/officeDocument/2006/relationships/slide" Target="/ppt/slides/slide12.xml" Id="R851c845ad78e44ac" /><Relationship Type="http://schemas.openxmlformats.org/officeDocument/2006/relationships/slide" Target="/ppt/slides/slide13.xml" Id="R54c692b5113f4d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10907ae58346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9ae82d54af4544" /><Relationship Type="http://schemas.openxmlformats.org/officeDocument/2006/relationships/notesMaster" Target="/ppt/notesMasters/notesMaster1.xml" Id="R3634088b591d49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21d5f5a7184a9d" /><Relationship Type="http://schemas.openxmlformats.org/officeDocument/2006/relationships/notesMaster" Target="/ppt/notesMasters/notesMaster1.xml" Id="R3539899df26549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a9c2526cb24b59" /><Relationship Type="http://schemas.openxmlformats.org/officeDocument/2006/relationships/notesMaster" Target="/ppt/notesMasters/notesMaster1.xml" Id="Ra22c844d5d7643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d6a53cbda24cd9" /><Relationship Type="http://schemas.openxmlformats.org/officeDocument/2006/relationships/notesMaster" Target="/ppt/notesMasters/notesMaster1.xml" Id="Rb19f8220a8cb42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5768032348465e" /><Relationship Type="http://schemas.openxmlformats.org/officeDocument/2006/relationships/notesMaster" Target="/ppt/notesMasters/notesMaster1.xml" Id="R4e73c077e76042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84b16f41de4d33" /><Relationship Type="http://schemas.openxmlformats.org/officeDocument/2006/relationships/notesMaster" Target="/ppt/notesMasters/notesMaster1.xml" Id="R23dc850a157747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e6e435983c414d" /><Relationship Type="http://schemas.openxmlformats.org/officeDocument/2006/relationships/notesMaster" Target="/ppt/notesMasters/notesMaster1.xml" Id="R601df3a956ed45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0b71c1bcf1409b" /><Relationship Type="http://schemas.openxmlformats.org/officeDocument/2006/relationships/notesMaster" Target="/ppt/notesMasters/notesMaster1.xml" Id="R744737ea8cc845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c69ed377d24c9e" /><Relationship Type="http://schemas.openxmlformats.org/officeDocument/2006/relationships/notesMaster" Target="/ppt/notesMasters/notesMaster1.xml" Id="R5c1edfc7e86442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b976e7c4754943" /><Relationship Type="http://schemas.openxmlformats.org/officeDocument/2006/relationships/notesMaster" Target="/ppt/notesMasters/notesMaster1.xml" Id="R9fe8420e0f3d42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74a8320da24932" /><Relationship Type="http://schemas.openxmlformats.org/officeDocument/2006/relationships/notesMaster" Target="/ppt/notesMasters/notesMaster1.xml" Id="Re74f84fcc4a742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b9f4ddc4374199" /><Relationship Type="http://schemas.openxmlformats.org/officeDocument/2006/relationships/notesMaster" Target="/ppt/notesMasters/notesMaster1.xml" Id="Rf69dccd8e6294e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90a0b1133684538" /><Relationship Type="http://schemas.openxmlformats.org/officeDocument/2006/relationships/notesMaster" Target="/ppt/notesMasters/notesMaster1.xml" Id="R216af096fffd4b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b2fefd2bc94c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ef351d06cb4421" /><Relationship Type="http://schemas.openxmlformats.org/officeDocument/2006/relationships/slideLayout" Target="/ppt/slideLayouts/slideLayout1.xml" Id="R9e686aa9923044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686aa9923044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73a7195684ba7" /><Relationship Type="http://schemas.openxmlformats.org/officeDocument/2006/relationships/notesSlide" Target="/ppt/notesSlides/notesSlide1.xml" Id="R9fd6cdfd294d41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2d6245ce44f69" /><Relationship Type="http://schemas.openxmlformats.org/officeDocument/2006/relationships/notesSlide" Target="/ppt/notesSlides/notesSlide2.xml" Id="R1fc6aa2d3b4543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9ac9b073d4295" /><Relationship Type="http://schemas.openxmlformats.org/officeDocument/2006/relationships/notesSlide" Target="/ppt/notesSlides/notesSlide3.xml" Id="Rb7cf5070ab1047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0db878fb8447e" /><Relationship Type="http://schemas.openxmlformats.org/officeDocument/2006/relationships/notesSlide" Target="/ppt/notesSlides/notesSlide4.xml" Id="R216b7a101aa146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1b84708a048a5" /><Relationship Type="http://schemas.openxmlformats.org/officeDocument/2006/relationships/notesSlide" Target="/ppt/notesSlides/notesSlide5.xml" Id="R87209ad2721845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42c434dd949ec" /><Relationship Type="http://schemas.openxmlformats.org/officeDocument/2006/relationships/notesSlide" Target="/ppt/notesSlides/notesSlide6.xml" Id="R448a569175804b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0669636094bb7" /><Relationship Type="http://schemas.openxmlformats.org/officeDocument/2006/relationships/notesSlide" Target="/ppt/notesSlides/notesSlide7.xml" Id="R44a9ccd0ccf343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92c26481d4b7e" /><Relationship Type="http://schemas.openxmlformats.org/officeDocument/2006/relationships/notesSlide" Target="/ppt/notesSlides/notesSlide8.xml" Id="Rf0a8576a19c248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c64ed479a497f" /><Relationship Type="http://schemas.openxmlformats.org/officeDocument/2006/relationships/notesSlide" Target="/ppt/notesSlides/notesSlide9.xml" Id="Raf9cb47d7a7448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e759563944b14" /><Relationship Type="http://schemas.openxmlformats.org/officeDocument/2006/relationships/notesSlide" Target="/ppt/notesSlides/notesSlide10.xml" Id="R4db03752c1ef42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39319cc0a4273" /><Relationship Type="http://schemas.openxmlformats.org/officeDocument/2006/relationships/notesSlide" Target="/ppt/notesSlides/notesSlide11.xml" Id="R76ccf8e50bac41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8f94f9fac422d" /><Relationship Type="http://schemas.openxmlformats.org/officeDocument/2006/relationships/notesSlide" Target="/ppt/notesSlides/notesSlide12.xml" Id="Re4fe81a3f44240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52f17da554e0a" /><Relationship Type="http://schemas.openxmlformats.org/officeDocument/2006/relationships/notesSlide" Target="/ppt/notesSlides/notesSlide13.xml" Id="R24d2e3a320794c1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44DB822D-C25E-408C-BA69-F65896B3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VeilPay
Private payroll. Verifiable compliance.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82D888A-360D-4A8A-90D3-042F7614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selective-disclosure payroll workflow designed for Midnight Network.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A241CA5-448F-4FF2-A602-A39C04E5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4F6C"/>
                </a:solidFill>
                <a:latin typeface="Helvetica Neue"/>
                <a:ea typeface="Helvetica Neue"/>
                <a:cs typeface="Helvetica Neue"/>
              </a:rPr>
              <a:t>NIGHT SKY ACCELERATOR | JULY 2026</a:t>
            </a:r>
          </a:p>
        </p:txBody>
      </p:sp>
      <p:sp>
        <p:nvSpPr>
          <p:cNvPr id="4" name="veilpay-accent">
            <a:extLst xmlns:a="http://schemas.openxmlformats.org/drawingml/2006/main">
              <a:ext uri="{FF2B5EF4-FFF2-40B4-BE49-F238E27FC236}">
                <a16:creationId xmlns:a16="http://schemas.microsoft.com/office/drawing/2014/main" id="{FAACFF0C-7381-4871-B1C2-9376DF2C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11343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4C065DF-2787-4303-912C-8800B561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3B98CF8-40A5-47BD-85A6-14D4D188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Payroll privacy breaks at the settlement layer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621B1BCB-10BA-4420-87C2-D2305611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B0285CC-8CB1-4949-95DA-0ABF5678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Traditional payroll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6C2DF292-476F-4198-9CE1-AFF0E548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Private, but hard to verify independently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Closed reconciliation and audit trails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Settlement trust remains centralized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25EA2581-57E8-4C4C-A4A5-FB61D9C8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3415FCF-C9E5-4A3D-86B3-7A814A28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Transparent on-chain payroll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BD0027D3-90BF-46F0-B043-A8C53CD1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Verifiable, but exposes sensitive payment graphs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Permanent metadata creates new attack surfaces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Compliance can require over-disclosure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E5FD0AE-3871-4DA4-830B-7E1716F6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4F6C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Salary amounts, payment timing and employer-employee relationships become observable when payroll moves onto transparent public rails.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That creates confidentiality, employee-safety and compliance risk.</a:t>
            </a:r>
          </a:p>
        </p:txBody>
      </p:sp>
      <p:sp>
        <p:nvSpPr>
          <p:cNvPr id="10" name="veilpay-accent">
            <a:extLst xmlns:a="http://schemas.openxmlformats.org/drawingml/2006/main">
              <a:ext uri="{FF2B5EF4-FFF2-40B4-BE49-F238E27FC236}">
                <a16:creationId xmlns:a16="http://schemas.microsoft.com/office/drawing/2014/main" id="{046B93CA-699A-44D2-B433-CA3B54E1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36801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D788ABC-1A04-47C1-A780-310897A5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E3D30A5-9AB3-4C9D-99E3-85C8FB12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VeilPay separates payment execution from disclosure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02F7B19-9A48-402C-A347-52DA288B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Private batch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employer creates payroll commitments without publishing individual salary amounts.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08192F95-EAC4-4DAC-B9FF-E3B3F280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Selective audit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reviewer receives only the evidence needed for a policy check, not the full payroll ledger.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ECD880D3-614F-4A4A-8BC0-1B7EABA2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One-time claim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employee receives a claim secret; a nullifier prevents the same entitlement being withdrawn twice.</a:t>
            </a:r>
          </a:p>
        </p:txBody>
      </p:sp>
      <p:sp>
        <p:nvSpPr>
          <p:cNvPr id="6" name="veilpay-accent">
            <a:extLst xmlns:a="http://schemas.openxmlformats.org/drawingml/2006/main">
              <a:ext uri="{FF2B5EF4-FFF2-40B4-BE49-F238E27FC236}">
                <a16:creationId xmlns:a16="http://schemas.microsoft.com/office/drawing/2014/main" id="{F93075BD-2E1B-4C0F-AA15-9A6ACE5A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us-pill">
            <a:extLst xmlns:a="http://schemas.openxmlformats.org/drawingml/2006/main">
              <a:ext uri="{FF2B5EF4-FFF2-40B4-BE49-F238E27FC236}">
                <a16:creationId xmlns:a16="http://schemas.microsoft.com/office/drawing/2014/main" id="{3735EE9D-F38D-482A-918E-6D716422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81125"/>
            <a:ext cx="1952625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6C"/>
                </a:solidFill>
              </a:defRPr>
            </a:pPr>
            <a:r>
              <a:rPr sz="1125" b="1">
                <a:solidFill>
                  <a:srgbClr val="0B4F6C"/>
                </a:solidFill>
              </a:rPr>
              <a:t>SIMULATION MVP</a:t>
            </a:r>
          </a:p>
        </p:txBody>
      </p:sp>
    </p:spTree>
    <p:extLst>
      <p:ext uri="{BB962C8B-B14F-4D97-AF65-F5344CB8AC3E}">
        <p14:creationId xmlns:p14="http://schemas.microsoft.com/office/powerpoint/2010/main" val="4753344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A40BE888-2FF9-4351-9965-FE4EC12B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476C31CF-1E6C-47EF-B6E3-84BD49B3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Midnight aligns privacy, auditability and operating cost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3984F4A8-FC60-487E-8EE5-31073760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Hybrid ledger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Combine durable public state with protected payroll inputs and outputs.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6DEF119-C3C3-4EAD-B520-C7DF63D7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Compact + ZK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Encode payroll rules as circuits that prove claims without revealing salary data.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9C7D928-7C31-455F-A0E1-2394FD46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Selective disclosure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Grant auditors only policy evidence instead of exposing the full payroll graph.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E76E708-2FDE-41A3-A46F-9C013293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NIGHT / DUST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Separate capital from transaction resources for predictable enterprise operations.</a:t>
            </a:r>
          </a:p>
        </p:txBody>
      </p:sp>
      <p:sp>
        <p:nvSpPr>
          <p:cNvPr id="7" name="veilpay-accent">
            <a:extLst xmlns:a="http://schemas.openxmlformats.org/drawingml/2006/main">
              <a:ext uri="{FF2B5EF4-FFF2-40B4-BE49-F238E27FC236}">
                <a16:creationId xmlns:a16="http://schemas.microsoft.com/office/drawing/2014/main" id="{C8DCC9DE-D9D4-4E29-B291-222726BB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us-pill">
            <a:extLst xmlns:a="http://schemas.openxmlformats.org/drawingml/2006/main">
              <a:ext uri="{FF2B5EF4-FFF2-40B4-BE49-F238E27FC236}">
                <a16:creationId xmlns:a16="http://schemas.microsoft.com/office/drawing/2014/main" id="{C46F19C5-91EE-466D-B403-1517E571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81125"/>
            <a:ext cx="1952625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6C"/>
                </a:solidFill>
              </a:defRPr>
            </a:pPr>
            <a:r>
              <a:rPr sz="1125" b="1">
                <a:solidFill>
                  <a:srgbClr val="0B4F6C"/>
                </a:solidFill>
              </a:rPr>
              <a:t>TARGET ARCHITECTURE</a:t>
            </a:r>
          </a:p>
        </p:txBody>
      </p:sp>
      <p:sp>
        <p:nvSpPr>
          <p:cNvPr id="9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02B3A93E-42E0-4BD2-A689-CFE10BC7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Sources: midnight.network/blog/midnight-network-is-live | midnight.network/night (accessed 15 Jul 2026)</a:t>
            </a:r>
          </a:p>
        </p:txBody>
      </p:sp>
    </p:spTree>
    <p:extLst>
      <p:ext uri="{BB962C8B-B14F-4D97-AF65-F5344CB8AC3E}">
        <p14:creationId xmlns:p14="http://schemas.microsoft.com/office/powerpoint/2010/main" val="16471570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8E48781-D6C8-458D-A1E0-F9B8DBDD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65E7861-1BA3-4E57-8B40-1A4FB81C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Lace is the employee control surface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FB70C3F9-EBB4-4FAA-BE30-079BD6E2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9F2DF8E-03C7-4A5B-9EA7-A017C94F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Implemented today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5AD34495-0639-4C69-99BB-2B79D3A4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Discover installed Midnight wallets and request permission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 connection status and a compatible network ID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shielded address; keep session in memory; copy or disconnect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9BBD1E5-B19E-45AE-AA79-0CE92681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7FE07C4-D90D-4152-92CB-21807B37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On-chain completion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DFBA849B-A379-457E-AC71-3A218754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 the claim transaction with generated contract bindings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 wallet authorization and client-side proof generation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Submit, confirm and display the receipt and spent nullifier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E6A1C00-9C1F-4060-ADB7-BFE6671C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4F6C"/>
                </a:solidFill>
                <a:latin typeface="Helvetica Neue"/>
                <a:ea typeface="Helvetica Neue"/>
                <a:cs typeface="Helvetica Neue"/>
              </a:rPr>
              <a:t>WALLET INTEGRATION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VeilPay uses the Midnight DApp connector so wallet permission and the shielded address remain under employee control.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Connection is implemented; proof authorization and real transaction submission are the next milestone.</a:t>
            </a:r>
          </a:p>
        </p:txBody>
      </p:sp>
      <p:sp>
        <p:nvSpPr>
          <p:cNvPr id="10" name="veilpay-accent">
            <a:extLst xmlns:a="http://schemas.openxmlformats.org/drawingml/2006/main">
              <a:ext uri="{FF2B5EF4-FFF2-40B4-BE49-F238E27FC236}">
                <a16:creationId xmlns:a16="http://schemas.microsoft.com/office/drawing/2014/main" id="{F1AAFD0A-A835-44A5-B214-DA317F0C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us-pill">
            <a:extLst xmlns:a="http://schemas.openxmlformats.org/drawingml/2006/main">
              <a:ext uri="{FF2B5EF4-FFF2-40B4-BE49-F238E27FC236}">
                <a16:creationId xmlns:a16="http://schemas.microsoft.com/office/drawing/2014/main" id="{0D97141C-BDD7-4D4B-AA3E-6B76A981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1952625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6C"/>
                </a:solidFill>
              </a:defRPr>
            </a:pPr>
            <a:r>
              <a:rPr sz="1125" b="1">
                <a:solidFill>
                  <a:srgbClr val="0B4F6C"/>
                </a:solidFill>
              </a:rPr>
              <a:t>PARTIAL INTEGRATION</a:t>
            </a:r>
          </a:p>
        </p:txBody>
      </p:sp>
      <p:sp>
        <p:nvSpPr>
          <p:cNvPr id="12" name="source-footnote">
            <a:extLst xmlns:a="http://schemas.openxmlformats.org/drawingml/2006/main">
              <a:ext uri="{FF2B5EF4-FFF2-40B4-BE49-F238E27FC236}">
                <a16:creationId xmlns:a16="http://schemas.microsoft.com/office/drawing/2014/main" id="{468B10CA-C4F4-435B-91CD-4989093C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B7280"/>
                </a:solidFill>
              </a:defRPr>
            </a:pPr>
            <a:r>
              <a:rPr sz="825">
                <a:solidFill>
                  <a:srgbClr val="6B7280"/>
                </a:solidFill>
              </a:rPr>
              <a:t>Reference: Midnight testnet release notes - Lace Wallet and DApp Connector (accessed 15 Jul 2026)</a:t>
            </a:r>
          </a:p>
        </p:txBody>
      </p:sp>
    </p:spTree>
    <p:extLst>
      <p:ext uri="{BB962C8B-B14F-4D97-AF65-F5344CB8AC3E}">
        <p14:creationId xmlns:p14="http://schemas.microsoft.com/office/powerpoint/2010/main" val="2931051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B6E3222-D332-40F4-9E96-1F7C1F60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D19F6CF-234E-4933-A7BF-BA0916FF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MVP proves the workflow, not yet the chain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2AE9BF15-FA3A-4C28-90C1-2CB27036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B9B7F63-6691-4158-ABDB-55D94AF4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Working today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9B08CB04-701A-43F7-BBB6-440BD80E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React role-based portals + Express API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 validation, encrypted claim data, SQLite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Lace connection flow and persistent local demo history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D5E3EF17-54C5-4670-BA70-5AF06F14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57679D9-50A5-4D7F-B272-FEDF95E9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Required for on-chain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34DDCA8-1CC1-403C-8752-763766E1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Compiled Compact artifacts and generated bindings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Deployed preprod contract and proof service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Production auth/RBAC, durable DB and security audit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BA38290-DCD0-49A8-82D1-C7268553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4F6C"/>
                </a:solidFill>
                <a:latin typeface="Helvetica Neue"/>
                <a:ea typeface="Helvetica Neue"/>
                <a:cs typeface="Helvetica Neue"/>
              </a:rPr>
              <a:t>CURRENT PRODUCT STATE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5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working local full-stack demo covers employer payroll upload, employee claims and compliance review.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Simulation boundaries are visible in the UI and transaction identifiers use a sim_ prefix.</a:t>
            </a:r>
          </a:p>
        </p:txBody>
      </p:sp>
      <p:sp>
        <p:nvSpPr>
          <p:cNvPr id="10" name="veilpay-accent">
            <a:extLst xmlns:a="http://schemas.openxmlformats.org/drawingml/2006/main">
              <a:ext uri="{FF2B5EF4-FFF2-40B4-BE49-F238E27FC236}">
                <a16:creationId xmlns:a16="http://schemas.microsoft.com/office/drawing/2014/main" id="{03711B23-7DAC-4340-9DBB-BBBF0895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us-pill">
            <a:extLst xmlns:a="http://schemas.openxmlformats.org/drawingml/2006/main">
              <a:ext uri="{FF2B5EF4-FFF2-40B4-BE49-F238E27FC236}">
                <a16:creationId xmlns:a16="http://schemas.microsoft.com/office/drawing/2014/main" id="{FC65B152-8367-4C1E-B0EC-FBF6705B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1952625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6C"/>
                </a:solidFill>
              </a:defRPr>
            </a:pPr>
            <a:r>
              <a:rPr sz="1125" b="1">
                <a:solidFill>
                  <a:srgbClr val="0B4F6C"/>
                </a:solidFill>
              </a:rPr>
              <a:t>SIMULATION MVP</a:t>
            </a:r>
          </a:p>
        </p:txBody>
      </p:sp>
    </p:spTree>
    <p:extLst>
      <p:ext uri="{BB962C8B-B14F-4D97-AF65-F5344CB8AC3E}">
        <p14:creationId xmlns:p14="http://schemas.microsoft.com/office/powerpoint/2010/main" val="9627283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C9150DDC-7409-4F36-8AA7-65593A7E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78704C9-50CD-4901-9CED-705DD709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first target users manage sensitive payroll operations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F09814E-D1CC-410A-AD4A-12D19E67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Crypto-native teams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Teams paying contributors in digital assets across jurisdictions.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7980FC5-0CAA-4294-84F9-6F1517BB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DAOs and foundations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Organizations that need accountable treasury operations without public salary graphs.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C422FAA-D216-41CA-81F5-EFE91FAB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Payroll providers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Platforms seeking privacy-preserving settlement as embedded infrastructure.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DFB21FE-D17A-4E99-942E-4FC6BFE3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Distributed employers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Remote companies balancing confidentiality, auditability and cross-border workflows.</a:t>
            </a:r>
          </a:p>
        </p:txBody>
      </p:sp>
      <p:sp>
        <p:nvSpPr>
          <p:cNvPr id="7" name="veilpay-accent">
            <a:extLst xmlns:a="http://schemas.openxmlformats.org/drawingml/2006/main">
              <a:ext uri="{FF2B5EF4-FFF2-40B4-BE49-F238E27FC236}">
                <a16:creationId xmlns:a16="http://schemas.microsoft.com/office/drawing/2014/main" id="{29CC9341-B55D-430C-B822-3E11EAB0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36253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7156D6E-36F7-4616-ACEB-B2D643CC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1669E10-B8B6-4E7B-8D3F-F33A42F4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VeilPay is built for payroll operations, not generic private transfers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1C6847A5-C467-40FE-906A-034AD3E3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Traditional payroll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Confidential records, but settlement and audits depend on closed systems.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0CD48501-3D5B-439A-A62E-300E89DB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B4F6C"/>
                </a:solidFill>
                <a:latin typeface="Helvetica Neue"/>
                <a:ea typeface="Helvetica Neue"/>
                <a:cs typeface="Helvetica Neue"/>
              </a:rPr>
              <a:t>VeilPay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Combines private commitments, one-time claims and minimum-necessary compliance evidence.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F4F8B705-F31A-4452-B915-6A9E11C8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Privacy transfer tools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Protect transfers, but do not solve payroll batch operations and reviewer workflows.</a:t>
            </a:r>
          </a:p>
        </p:txBody>
      </p:sp>
      <p:sp>
        <p:nvSpPr>
          <p:cNvPr id="6" name="veilpay-accent">
            <a:extLst xmlns:a="http://schemas.openxmlformats.org/drawingml/2006/main">
              <a:ext uri="{FF2B5EF4-FFF2-40B4-BE49-F238E27FC236}">
                <a16:creationId xmlns:a16="http://schemas.microsoft.com/office/drawing/2014/main" id="{B1801F26-3626-4540-878A-4D1FB564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97385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6EA6427-6FFC-436C-BFAA-97B4CBF6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6DB537E-C5B6-47A8-86E5-38A872B5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hybrid B2B model aligns recurring and usage revenue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7B5C16D-13D8-469F-BED8-B1CBF020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subscription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Monthly or annual employer plans for payroll administration, compliance workflows and team access.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5EF1C6CC-105D-499B-8026-05CBB442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Enterprise services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Paid integrations, compliance configuration, support and private deployment options for providers.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16C7AAB3-AAC6-49AA-AAEC-751DB504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8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Usage fee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Variable fees tied to completed payroll batches, active employees and proof workload.</a:t>
            </a:r>
          </a:p>
        </p:txBody>
      </p:sp>
      <p:sp>
        <p:nvSpPr>
          <p:cNvPr id="6" name="veilpay-accent">
            <a:extLst xmlns:a="http://schemas.openxmlformats.org/drawingml/2006/main">
              <a:ext uri="{FF2B5EF4-FFF2-40B4-BE49-F238E27FC236}">
                <a16:creationId xmlns:a16="http://schemas.microsoft.com/office/drawing/2014/main" id="{5A4094FC-37AD-4FAA-88EC-CDC7509D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us-pill">
            <a:extLst xmlns:a="http://schemas.openxmlformats.org/drawingml/2006/main">
              <a:ext uri="{FF2B5EF4-FFF2-40B4-BE49-F238E27FC236}">
                <a16:creationId xmlns:a16="http://schemas.microsoft.com/office/drawing/2014/main" id="{2E59AC86-4EAC-4C46-A0C2-9BD222F8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81125"/>
            <a:ext cx="1952625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4F6C"/>
                </a:solidFill>
              </a:defRPr>
            </a:pPr>
            <a:r>
              <a:rPr sz="1125" b="1">
                <a:solidFill>
                  <a:srgbClr val="0B4F6C"/>
                </a:solidFill>
              </a:rPr>
              <a:t>PRICING TO VALIDATE</a:t>
            </a:r>
          </a:p>
        </p:txBody>
      </p:sp>
    </p:spTree>
    <p:extLst>
      <p:ext uri="{BB962C8B-B14F-4D97-AF65-F5344CB8AC3E}">
        <p14:creationId xmlns:p14="http://schemas.microsoft.com/office/powerpoint/2010/main" val="12393924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DF964145-F966-41E1-A815-3BE1C5F1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9A9FA403-A98F-4D13-A618-B52C0E8C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8F0B00C3-6410-423A-9324-D48AB65C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50852000-E254-42C6-8F64-8F309074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B9B7B2FA-7FA6-44E4-B33F-4E70A2EB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Traction is product evidence today, not market traction yet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3D9469B-1948-4202-8428-40152463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Role-based product portals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8D76C4C-7DAD-4B83-A959-25153BCE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Known npm audit vulnerabilities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25E6D2FC-C943-438D-9880-B21BFC62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Automated backend tests passing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623F0A14-78E6-4545-AF4B-B20601E3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B4F6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F2B0FB8-0B9F-4A60-A2B1-28FAEF6E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B4F6C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5200BDB-87ED-4894-8B7E-6954DEE0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B4F6C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5D918152-014D-4A94-818C-5A3BB2B7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4F6C"/>
                </a:solidFill>
                <a:latin typeface="Helvetica Neue"/>
                <a:ea typeface="Helvetica Neue"/>
                <a:cs typeface="Helvetica Neue"/>
              </a:rPr>
              <a:t>VERIFIED BUILD PROGRESS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Functional local MVP; public demo deployment-ready. No production users, on-chain volume, TVL or revenue are claimed.</a:t>
            </a:r>
          </a:p>
        </p:txBody>
      </p:sp>
      <p:sp>
        <p:nvSpPr>
          <p:cNvPr id="13" name="veilpay-accent">
            <a:extLst xmlns:a="http://schemas.openxmlformats.org/drawingml/2006/main">
              <a:ext uri="{FF2B5EF4-FFF2-40B4-BE49-F238E27FC236}">
                <a16:creationId xmlns:a16="http://schemas.microsoft.com/office/drawing/2014/main" id="{B9C8E727-6762-4A30-B85D-3943FA9A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6637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15B1AB5D-3551-4133-9EE7-F029F77C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2CEAA74-E175-42BF-BAA8-C559FFAC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10-week path converts the demo into a preprod pilot</a:t>
            </a:r>
          </a:p>
        </p:txBody>
      </p:sp>
      <p:cxnSp>
        <p:nvCxnSpPr>
          <p:cNvPr id="16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74ADBD3-1BD5-44EE-A5A9-D3ABC96D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9433F1A-24FE-4D1B-94F3-D1C2D4D5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BDBDAFF-C49B-46F2-A83F-69F49CB2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11CF321F-9191-4F9E-9C70-64B02B97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4F6C"/>
                </a:solidFill>
                <a:latin typeface="Helvetica Neue"/>
                <a:ea typeface="Helvetica Neue"/>
                <a:cs typeface="Helvetica Neue"/>
              </a:rPr>
              <a:t>WEEKS 1-3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FB3D6B1-46C6-44BF-8A82-6C1144A6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4F6C"/>
                </a:solidFill>
                <a:latin typeface="Helvetica Neue"/>
                <a:ea typeface="Helvetica Neue"/>
                <a:cs typeface="Helvetica Neue"/>
              </a:rPr>
              <a:t>WEEKS 4-7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0BAF868-A011-45CE-A51B-2242C9CF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4F6C"/>
                </a:solidFill>
                <a:latin typeface="Helvetica Neue"/>
                <a:ea typeface="Helvetica Neue"/>
                <a:cs typeface="Helvetica Neue"/>
              </a:rPr>
              <a:t>WEEKS 8-10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52E00787-E012-4414-958E-6DBBB581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Deploy safely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 proofs, deploy to preprod and complete end-to-end wallet tests.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F86445AA-D5EE-4A85-836F-48F0AA06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Prove the core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Finalize Compact circuits, compile artifacts and generate SDK bindings.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383DB7A-84EC-4EDA-99E5-62C187FB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 a pilot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Add auth/RBAC, durable storage and conduct design-partner discovery.</a:t>
            </a:r>
          </a:p>
        </p:txBody>
      </p:sp>
      <p:sp>
        <p:nvSpPr>
          <p:cNvPr id="13" name="veilpay-accent">
            <a:extLst xmlns:a="http://schemas.openxmlformats.org/drawingml/2006/main">
              <a:ext uri="{FF2B5EF4-FFF2-40B4-BE49-F238E27FC236}">
                <a16:creationId xmlns:a16="http://schemas.microsoft.com/office/drawing/2014/main" id="{D9728D1C-2C5A-4B9C-A835-36A02894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90662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am-title">
            <a:extLst xmlns:a="http://schemas.openxmlformats.org/drawingml/2006/main">
              <a:ext uri="{FF2B5EF4-FFF2-40B4-BE49-F238E27FC236}">
                <a16:creationId xmlns:a16="http://schemas.microsoft.com/office/drawing/2014/main" id="{3E8E1692-9D98-49DC-B3D6-38FB8348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A focused team is building private payroll for Midnight</a:t>
            </a:r>
          </a:p>
        </p:txBody>
      </p:sp>
      <p:sp>
        <p:nvSpPr>
          <p:cNvPr id="2" name="team-kicker">
            <a:extLst xmlns:a="http://schemas.openxmlformats.org/drawingml/2006/main">
              <a:ext uri="{FF2B5EF4-FFF2-40B4-BE49-F238E27FC236}">
                <a16:creationId xmlns:a16="http://schemas.microsoft.com/office/drawing/2014/main" id="{E905F71F-A905-4605-BDC6-903440B6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4F6C"/>
                </a:solidFill>
              </a:defRPr>
            </a:pPr>
            <a:r>
              <a:rPr sz="1350" b="1">
                <a:solidFill>
                  <a:srgbClr val="0B4F6C"/>
                </a:solidFill>
              </a:rPr>
              <a:t>CORE TEAM</a:t>
            </a:r>
          </a:p>
        </p:txBody>
      </p:sp>
      <p:sp>
        <p:nvSpPr>
          <p:cNvPr id="3" name="team-photo-1">
            <a:extLst xmlns:a="http://schemas.openxmlformats.org/drawingml/2006/main">
              <a:ext uri="{FF2B5EF4-FFF2-40B4-BE49-F238E27FC236}">
                <a16:creationId xmlns:a16="http://schemas.microsoft.com/office/drawing/2014/main" id="{B5EA2B62-A57C-4935-B26E-EF6FF2C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4288">
            <a:solidFill>
              <a:srgbClr val="B8BCC4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ADD PHOTO</a:t>
            </a:r>
          </a:p>
        </p:txBody>
      </p:sp>
      <p:sp>
        <p:nvSpPr>
          <p:cNvPr id="4" name="team-name-1">
            <a:extLst xmlns:a="http://schemas.openxmlformats.org/drawingml/2006/main">
              <a:ext uri="{FF2B5EF4-FFF2-40B4-BE49-F238E27FC236}">
                <a16:creationId xmlns:a16="http://schemas.microsoft.com/office/drawing/2014/main" id="{143922FF-78BD-4517-9F5B-0913520F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Uğur</a:t>
            </a:r>
          </a:p>
        </p:txBody>
      </p:sp>
      <p:sp>
        <p:nvSpPr>
          <p:cNvPr id="5" name="team-role-1">
            <a:extLst xmlns:a="http://schemas.openxmlformats.org/drawingml/2006/main">
              <a:ext uri="{FF2B5EF4-FFF2-40B4-BE49-F238E27FC236}">
                <a16:creationId xmlns:a16="http://schemas.microsoft.com/office/drawing/2014/main" id="{CF781486-D4A8-4B0C-858D-E8D8E21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F6C"/>
                </a:solidFill>
              </a:defRPr>
            </a:pPr>
            <a:r>
              <a:rPr sz="1275" b="1">
                <a:solidFill>
                  <a:srgbClr val="0B4F6C"/>
                </a:solidFill>
              </a:rPr>
              <a:t>Founder | Full-Stack Developer</a:t>
            </a:r>
          </a:p>
        </p:txBody>
      </p:sp>
      <p:sp>
        <p:nvSpPr>
          <p:cNvPr id="6" name="team-focus-1">
            <a:extLst xmlns:a="http://schemas.openxmlformats.org/drawingml/2006/main">
              <a:ext uri="{FF2B5EF4-FFF2-40B4-BE49-F238E27FC236}">
                <a16:creationId xmlns:a16="http://schemas.microsoft.com/office/drawing/2014/main" id="{2A2EBA2B-4936-4E30-9744-EFF4CE3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Product ownership, full-stack implementation and privacy architecture</a:t>
            </a:r>
          </a:p>
        </p:txBody>
      </p:sp>
      <p:sp>
        <p:nvSpPr>
          <p:cNvPr id="7" name="team-photo-2">
            <a:extLst xmlns:a="http://schemas.openxmlformats.org/drawingml/2006/main">
              <a:ext uri="{FF2B5EF4-FFF2-40B4-BE49-F238E27FC236}">
                <a16:creationId xmlns:a16="http://schemas.microsoft.com/office/drawing/2014/main" id="{8EC78DD1-91FD-4283-92C1-85BD5712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809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4288">
            <a:solidFill>
              <a:srgbClr val="B8BCC4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ADD PHOTO</a:t>
            </a:r>
          </a:p>
        </p:txBody>
      </p:sp>
      <p:sp>
        <p:nvSpPr>
          <p:cNvPr id="8" name="team-name-2">
            <a:extLst xmlns:a="http://schemas.openxmlformats.org/drawingml/2006/main">
              <a:ext uri="{FF2B5EF4-FFF2-40B4-BE49-F238E27FC236}">
                <a16:creationId xmlns:a16="http://schemas.microsoft.com/office/drawing/2014/main" id="{98747F16-A92E-429E-B521-23147D4C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4386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Musa Eren Topcu</a:t>
            </a:r>
          </a:p>
        </p:txBody>
      </p:sp>
      <p:sp>
        <p:nvSpPr>
          <p:cNvPr id="9" name="team-role-2">
            <a:extLst xmlns:a="http://schemas.openxmlformats.org/drawingml/2006/main">
              <a:ext uri="{FF2B5EF4-FFF2-40B4-BE49-F238E27FC236}">
                <a16:creationId xmlns:a16="http://schemas.microsoft.com/office/drawing/2014/main" id="{1D5865C0-7205-4335-BFE2-D54976E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1054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F6C"/>
                </a:solidFill>
              </a:defRPr>
            </a:pPr>
            <a:r>
              <a:rPr sz="1275" b="1">
                <a:solidFill>
                  <a:srgbClr val="0B4F6C"/>
                </a:solidFill>
              </a:rPr>
              <a:t>Co-founder | Blockchain Lead</a:t>
            </a:r>
          </a:p>
        </p:txBody>
      </p:sp>
      <p:sp>
        <p:nvSpPr>
          <p:cNvPr id="10" name="team-focus-2">
            <a:extLst xmlns:a="http://schemas.openxmlformats.org/drawingml/2006/main">
              <a:ext uri="{FF2B5EF4-FFF2-40B4-BE49-F238E27FC236}">
                <a16:creationId xmlns:a16="http://schemas.microsoft.com/office/drawing/2014/main" id="{74DE5676-DA24-4A2F-B1BF-04A2EC41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56388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Midnight integration, Compact contracts and proof architecture</a:t>
            </a:r>
          </a:p>
        </p:txBody>
      </p:sp>
      <p:sp>
        <p:nvSpPr>
          <p:cNvPr id="11" name="team-photo-3">
            <a:extLst xmlns:a="http://schemas.openxmlformats.org/drawingml/2006/main">
              <a:ext uri="{FF2B5EF4-FFF2-40B4-BE49-F238E27FC236}">
                <a16:creationId xmlns:a16="http://schemas.microsoft.com/office/drawing/2014/main" id="{FA482EE4-8F2D-46FE-80A9-ACD081D0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4288">
            <a:solidFill>
              <a:srgbClr val="B8BCC4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ADD PHOTO</a:t>
            </a:r>
          </a:p>
        </p:txBody>
      </p:sp>
      <p:sp>
        <p:nvSpPr>
          <p:cNvPr id="12" name="team-name-3">
            <a:extLst xmlns:a="http://schemas.openxmlformats.org/drawingml/2006/main">
              <a:ext uri="{FF2B5EF4-FFF2-40B4-BE49-F238E27FC236}">
                <a16:creationId xmlns:a16="http://schemas.microsoft.com/office/drawing/2014/main" id="{7223976F-6393-4702-8769-A5749C8B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Yusuf Arslan</a:t>
            </a:r>
          </a:p>
        </p:txBody>
      </p:sp>
      <p:sp>
        <p:nvSpPr>
          <p:cNvPr id="13" name="team-role-3">
            <a:extLst xmlns:a="http://schemas.openxmlformats.org/drawingml/2006/main">
              <a:ext uri="{FF2B5EF4-FFF2-40B4-BE49-F238E27FC236}">
                <a16:creationId xmlns:a16="http://schemas.microsoft.com/office/drawing/2014/main" id="{9252BF06-08B7-487C-BE64-2C697607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054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F6C"/>
                </a:solidFill>
              </a:defRPr>
            </a:pPr>
            <a:r>
              <a:rPr sz="1275" b="1">
                <a:solidFill>
                  <a:srgbClr val="0B4F6C"/>
                </a:solidFill>
              </a:rPr>
              <a:t>Frontend Developer</a:t>
            </a:r>
          </a:p>
        </p:txBody>
      </p:sp>
      <p:sp>
        <p:nvSpPr>
          <p:cNvPr id="14" name="team-focus-3">
            <a:extLst xmlns:a="http://schemas.openxmlformats.org/drawingml/2006/main">
              <a:ext uri="{FF2B5EF4-FFF2-40B4-BE49-F238E27FC236}">
                <a16:creationId xmlns:a16="http://schemas.microsoft.com/office/drawing/2014/main" id="{6890EB7E-6826-447B-9F26-739B6B0C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388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User interfaces, role-based portals and wallet experience</a:t>
            </a:r>
          </a:p>
        </p:txBody>
      </p:sp>
      <p:sp>
        <p:nvSpPr>
          <p:cNvPr id="15" name="team-photo-4">
            <a:extLst xmlns:a="http://schemas.openxmlformats.org/drawingml/2006/main">
              <a:ext uri="{FF2B5EF4-FFF2-40B4-BE49-F238E27FC236}">
                <a16:creationId xmlns:a16="http://schemas.microsoft.com/office/drawing/2014/main" id="{39DC4E5A-BD58-4E3D-8C4B-52309E1A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4288">
            <a:solidFill>
              <a:srgbClr val="B8BCC4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ADD PHOTO</a:t>
            </a:r>
          </a:p>
        </p:txBody>
      </p:sp>
      <p:sp>
        <p:nvSpPr>
          <p:cNvPr id="16" name="team-name-4">
            <a:extLst xmlns:a="http://schemas.openxmlformats.org/drawingml/2006/main">
              <a:ext uri="{FF2B5EF4-FFF2-40B4-BE49-F238E27FC236}">
                <a16:creationId xmlns:a16="http://schemas.microsoft.com/office/drawing/2014/main" id="{AC2F7A2E-283F-41B7-80E9-11C6178A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4386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Salih Töre</a:t>
            </a:r>
          </a:p>
        </p:txBody>
      </p:sp>
      <p:sp>
        <p:nvSpPr>
          <p:cNvPr id="17" name="team-role-4">
            <a:extLst xmlns:a="http://schemas.openxmlformats.org/drawingml/2006/main">
              <a:ext uri="{FF2B5EF4-FFF2-40B4-BE49-F238E27FC236}">
                <a16:creationId xmlns:a16="http://schemas.microsoft.com/office/drawing/2014/main" id="{B1377A48-0BD9-49E2-959A-3D72D2C0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1054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4F6C"/>
                </a:solidFill>
              </a:defRPr>
            </a:pPr>
            <a:r>
              <a:rPr sz="1275" b="1">
                <a:solidFill>
                  <a:srgbClr val="0B4F6C"/>
                </a:solidFill>
              </a:rPr>
              <a:t>Backend Developer</a:t>
            </a:r>
          </a:p>
        </p:txBody>
      </p:sp>
      <p:sp>
        <p:nvSpPr>
          <p:cNvPr id="18" name="team-focus-4">
            <a:extLst xmlns:a="http://schemas.openxmlformats.org/drawingml/2006/main">
              <a:ext uri="{FF2B5EF4-FFF2-40B4-BE49-F238E27FC236}">
                <a16:creationId xmlns:a16="http://schemas.microsoft.com/office/drawing/2014/main" id="{7A760809-86A2-4494-89C7-00AD1868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6388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</a:defRPr>
            </a:pPr>
            <a:r>
              <a:rPr sz="1125" b="0">
                <a:solidFill>
                  <a:srgbClr val="4B5563"/>
                </a:solidFill>
              </a:rPr>
              <a:t>API services, payroll workflows and data persistence</a:t>
            </a:r>
          </a:p>
        </p:txBody>
      </p:sp>
      <p:sp>
        <p:nvSpPr>
          <p:cNvPr id="19" name="team-page-number">
            <a:extLst xmlns:a="http://schemas.openxmlformats.org/drawingml/2006/main">
              <a:ext uri="{FF2B5EF4-FFF2-40B4-BE49-F238E27FC236}">
                <a16:creationId xmlns:a16="http://schemas.microsoft.com/office/drawing/2014/main" id="{E474E423-351A-4779-9046-559DAC16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12</a:t>
            </a:r>
          </a:p>
        </p:txBody>
      </p:sp>
      <p:sp>
        <p:nvSpPr>
          <p:cNvPr id="20" name="veilpay-accent">
            <a:extLst xmlns:a="http://schemas.openxmlformats.org/drawingml/2006/main">
              <a:ext uri="{FF2B5EF4-FFF2-40B4-BE49-F238E27FC236}">
                <a16:creationId xmlns:a16="http://schemas.microsoft.com/office/drawing/2014/main" id="{B822D36D-9410-483D-B07F-0119B164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67500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F7F19DC0-B780-4D61-B2E7-D34BD2D0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Help VeilPay make private payroll provable.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6121D68-374F-410E-B33F-2C2BBE33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Compact and proof mentorship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6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Pilot introductions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Go-to-market and pre-seed readiness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EE80914-0AAD-47AC-9552-4BA0AB0D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4F6C"/>
                </a:solidFill>
                <a:latin typeface="Helvetica Neue"/>
                <a:ea typeface="Helvetica Neue"/>
                <a:cs typeface="Helvetica Neue"/>
              </a:rPr>
              <a:t>THE NIGHT SKY ASK</a:t>
            </a:r>
          </a:p>
        </p:txBody>
      </p:sp>
      <p:sp>
        <p:nvSpPr>
          <p:cNvPr id="4" name="veilpay-accent">
            <a:extLst xmlns:a="http://schemas.openxmlformats.org/drawingml/2006/main">
              <a:ext uri="{FF2B5EF4-FFF2-40B4-BE49-F238E27FC236}">
                <a16:creationId xmlns:a16="http://schemas.microsoft.com/office/drawing/2014/main" id="{811019AD-3EDB-4C1C-8105-CE798186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0211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2026-07-15T07:04:54.7270000Z</dcterms:created>
  <dcterms:modified xsi:type="dcterms:W3CDTF">2026-07-15T07:04:54.7270000Z</dcterms:modified>
</coreProperties>
</file>